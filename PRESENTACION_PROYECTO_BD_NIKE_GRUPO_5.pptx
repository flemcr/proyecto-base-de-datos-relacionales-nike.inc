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3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ike_st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080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80000" y="0"/>
            <a:ext cx="38100" cy="6858000"/>
          </a:xfrm>
          <a:prstGeom prst="rect">
            <a:avLst/>
          </a:prstGeom>
          <a:solidFill>
            <a:srgbClr val="C6E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id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1200" y="304800"/>
            <a:ext cx="482600" cy="79685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61000" y="1168400"/>
            <a:ext cx="2057400" cy="215900"/>
          </a:xfrm>
          <a:prstGeom prst="roundRect">
            <a:avLst>
              <a:gd name="adj" fmla="val 50000"/>
            </a:avLst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562600" y="1204468"/>
            <a:ext cx="6578600" cy="1932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22"/>
              </a:lnSpc>
            </a:pPr>
            <a:r>
              <a:rPr sz="850" b="1" i="0">
                <a:solidFill>
                  <a:srgbClr val="3A4248"/>
                </a:solidFill>
                <a:latin typeface="Arial"/>
              </a:rPr>
              <a:t>IDAT  /  PROYECTO PARCIAL  /  GRUPO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61000" y="1496568"/>
            <a:ext cx="6680200" cy="8036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63"/>
              </a:lnSpc>
            </a:pPr>
            <a:r>
              <a:rPr sz="2600" b="1" i="0">
                <a:solidFill>
                  <a:srgbClr val="0E0E0E"/>
                </a:solidFill>
                <a:latin typeface="Arial"/>
              </a:rPr>
              <a:t>Disenio de Base de Datos Relacional</a:t>
            </a:r>
          </a:p>
          <a:p>
            <a:pPr algn="l">
              <a:lnSpc>
                <a:spcPts val="2963"/>
              </a:lnSpc>
            </a:pPr>
            <a:r>
              <a:rPr sz="2600" b="1" i="0">
                <a:solidFill>
                  <a:srgbClr val="0E0E0E"/>
                </a:solidFill>
                <a:latin typeface="Arial"/>
              </a:rPr>
              <a:t>para NIKE Inc. - Peru</a:t>
            </a:r>
          </a:p>
        </p:txBody>
      </p:sp>
      <p:sp>
        <p:nvSpPr>
          <p:cNvPr id="8" name="Rectangle 7"/>
          <p:cNvSpPr/>
          <p:nvPr/>
        </p:nvSpPr>
        <p:spPr>
          <a:xfrm>
            <a:off x="5461000" y="2454656"/>
            <a:ext cx="762000" cy="38100"/>
          </a:xfrm>
          <a:prstGeom prst="rect">
            <a:avLst/>
          </a:prstGeom>
          <a:solidFill>
            <a:srgbClr val="C6E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61000" y="2634488"/>
            <a:ext cx="6680200" cy="2435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150" b="0" i="0">
                <a:solidFill>
                  <a:srgbClr val="5E676E"/>
                </a:solidFill>
                <a:latin typeface="Arial"/>
              </a:rPr>
              <a:t>Ventas  -  Inventario  -  Distribucion a locales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61000" y="3172561"/>
            <a:ext cx="6680200" cy="2050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14"/>
              </a:lnSpc>
            </a:pPr>
            <a:r>
              <a:rPr sz="919" b="1" i="0">
                <a:solidFill>
                  <a:srgbClr val="0E0E0E"/>
                </a:solidFill>
                <a:latin typeface="Arial"/>
              </a:rPr>
              <a:t>Integrantes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61000" y="3373119"/>
            <a:ext cx="6680200" cy="2268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86"/>
              </a:lnSpc>
            </a:pPr>
            <a:r>
              <a:rPr sz="1050" b="0" i="0">
                <a:solidFill>
                  <a:srgbClr val="1B2228"/>
                </a:solidFill>
                <a:latin typeface="Arial"/>
              </a:rPr>
              <a:t>Daniel Asmat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61000" y="3582669"/>
            <a:ext cx="6680200" cy="2268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86"/>
              </a:lnSpc>
            </a:pPr>
            <a:r>
              <a:rPr sz="1050" b="0" i="0">
                <a:solidFill>
                  <a:srgbClr val="1B2228"/>
                </a:solidFill>
                <a:latin typeface="Arial"/>
              </a:rPr>
              <a:t>Salomon Fernandez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61000" y="3792219"/>
            <a:ext cx="6680200" cy="2268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86"/>
              </a:lnSpc>
            </a:pPr>
            <a:r>
              <a:rPr sz="1050" b="0" i="0">
                <a:solidFill>
                  <a:srgbClr val="1B2228"/>
                </a:solidFill>
                <a:latin typeface="Arial"/>
              </a:rPr>
              <a:t>Luis Coloma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61000" y="4001769"/>
            <a:ext cx="6680200" cy="2268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86"/>
              </a:lnSpc>
            </a:pPr>
            <a:r>
              <a:rPr sz="1050" b="0" i="0">
                <a:solidFill>
                  <a:srgbClr val="1B2228"/>
                </a:solidFill>
                <a:latin typeface="Arial"/>
              </a:rPr>
              <a:t>Pablo Rios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61000" y="4334256"/>
            <a:ext cx="3429000" cy="0"/>
          </a:xfrm>
          <a:prstGeom prst="line">
            <a:avLst/>
          </a:prstGeom>
          <a:ln w="10160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61000" y="4467961"/>
            <a:ext cx="6680200" cy="2050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14"/>
              </a:lnSpc>
            </a:pPr>
            <a:r>
              <a:rPr sz="919" b="1" i="0">
                <a:solidFill>
                  <a:srgbClr val="0E0E0E"/>
                </a:solidFill>
                <a:latin typeface="Arial"/>
              </a:rPr>
              <a:t>Grupo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8400" y="4466742"/>
            <a:ext cx="5892800" cy="2150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93"/>
              </a:lnSpc>
            </a:pPr>
            <a:r>
              <a:rPr sz="980" b="0" i="0">
                <a:solidFill>
                  <a:srgbClr val="1B2228"/>
                </a:solidFill>
                <a:latin typeface="Arial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61000" y="4683861"/>
            <a:ext cx="6680200" cy="2050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14"/>
              </a:lnSpc>
            </a:pPr>
            <a:r>
              <a:rPr sz="919" b="1" i="0">
                <a:solidFill>
                  <a:srgbClr val="0E0E0E"/>
                </a:solidFill>
                <a:latin typeface="Arial"/>
              </a:rPr>
              <a:t>Docente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48400" y="4682642"/>
            <a:ext cx="5892800" cy="2150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93"/>
              </a:lnSpc>
            </a:pPr>
            <a:r>
              <a:rPr sz="980" b="0" i="0">
                <a:solidFill>
                  <a:srgbClr val="1B2228"/>
                </a:solidFill>
                <a:latin typeface="Arial"/>
              </a:rPr>
              <a:t>Sergio Fernando Castillo Carrion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61000" y="4899761"/>
            <a:ext cx="6680200" cy="2050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14"/>
              </a:lnSpc>
            </a:pPr>
            <a:r>
              <a:rPr sz="919" b="1" i="0">
                <a:solidFill>
                  <a:srgbClr val="0E0E0E"/>
                </a:solidFill>
                <a:latin typeface="Arial"/>
              </a:rPr>
              <a:t>Materia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8400" y="4898542"/>
            <a:ext cx="5892800" cy="2150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93"/>
              </a:lnSpc>
            </a:pPr>
            <a:r>
              <a:rPr sz="980" b="0" i="0">
                <a:solidFill>
                  <a:srgbClr val="1B2228"/>
                </a:solidFill>
                <a:latin typeface="Arial"/>
              </a:rPr>
              <a:t>Disenio de Bases de Datos Relacionales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61000" y="6537756"/>
            <a:ext cx="6680200" cy="17820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03"/>
              </a:lnSpc>
            </a:pPr>
            <a:r>
              <a:rPr sz="760" b="0" i="0">
                <a:solidFill>
                  <a:srgbClr val="8B949B"/>
                </a:solidFill>
                <a:latin typeface="Arial"/>
              </a:rPr>
              <a:t>Proyecto parcial  |  Disenio de Base de Datos Relacionales  |  Grupo 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56200" y="6537756"/>
            <a:ext cx="6350000" cy="17820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003"/>
              </a:lnSpc>
            </a:pPr>
            <a:r>
              <a:rPr sz="760" b="0" i="0">
                <a:solidFill>
                  <a:srgbClr val="8B949B"/>
                </a:solidFill>
                <a:latin typeface="Arial"/>
              </a:rPr>
              <a:t>01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ike_storefro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826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826000" y="0"/>
            <a:ext cx="38100" cy="6858000"/>
          </a:xfrm>
          <a:prstGeom prst="rect">
            <a:avLst/>
          </a:prstGeom>
          <a:solidFill>
            <a:srgbClr val="C6E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id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1200" y="304800"/>
            <a:ext cx="482600" cy="79685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207000" y="508000"/>
            <a:ext cx="723900" cy="215900"/>
          </a:xfrm>
          <a:prstGeom prst="roundRect">
            <a:avLst>
              <a:gd name="adj" fmla="val 50000"/>
            </a:avLst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308600" y="544068"/>
            <a:ext cx="6832600" cy="1932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22"/>
              </a:lnSpc>
            </a:pPr>
            <a:r>
              <a:rPr sz="850" b="1" i="0">
                <a:solidFill>
                  <a:srgbClr val="3A4248"/>
                </a:solidFill>
                <a:latin typeface="Arial"/>
              </a:rPr>
              <a:t>CAPITULO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7000" y="787400"/>
            <a:ext cx="6934200" cy="412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49"/>
              </a:lnSpc>
            </a:pPr>
            <a:r>
              <a:rPr sz="2500" b="1" i="0">
                <a:solidFill>
                  <a:srgbClr val="0E0E0E"/>
                </a:solidFill>
                <a:latin typeface="Arial"/>
              </a:rPr>
              <a:t>Presentacion de la empresa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07000" y="1305814"/>
            <a:ext cx="6934200" cy="57886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86"/>
              </a:lnSpc>
            </a:pPr>
            <a:r>
              <a:rPr sz="1050" b="0" i="0">
                <a:solidFill>
                  <a:srgbClr val="333B41"/>
                </a:solidFill>
                <a:latin typeface="Arial"/>
              </a:rPr>
              <a:t>Nike Inc. es una empresa multinacional de calzado e indumentaria deportiva. En el Peru atiende a traves</a:t>
            </a:r>
          </a:p>
          <a:p>
            <a:pPr algn="l">
              <a:lnSpc>
                <a:spcPts val="1386"/>
              </a:lnSpc>
            </a:pPr>
            <a:r>
              <a:rPr sz="1050" b="0" i="0">
                <a:solidFill>
                  <a:srgbClr val="333B41"/>
                </a:solidFill>
                <a:latin typeface="Arial"/>
              </a:rPr>
              <a:t>de tiendas propias (Nike Store), la tienda en linea y una cadena de distribucion que abastece a los locales</a:t>
            </a:r>
          </a:p>
          <a:p>
            <a:pPr algn="l">
              <a:lnSpc>
                <a:spcPts val="1386"/>
              </a:lnSpc>
            </a:pPr>
            <a:r>
              <a:rPr sz="1050" b="0" i="0">
                <a:solidFill>
                  <a:srgbClr val="333B41"/>
                </a:solidFill>
                <a:latin typeface="Arial"/>
              </a:rPr>
              <a:t>desde centros de distribucion propios.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207000" y="2058416"/>
            <a:ext cx="6299200" cy="317500"/>
          </a:xfrm>
          <a:prstGeom prst="rect">
            <a:avLst/>
          </a:prstGeom>
          <a:solidFill>
            <a:srgbClr val="0E0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308600" y="2131568"/>
            <a:ext cx="6832600" cy="2016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8"/>
              </a:lnSpc>
            </a:pPr>
            <a:r>
              <a:rPr sz="900" b="1" i="0">
                <a:solidFill>
                  <a:srgbClr val="FFFFFF"/>
                </a:solidFill>
                <a:latin typeface="Arial"/>
              </a:rPr>
              <a:t>Campo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1000" y="2131568"/>
            <a:ext cx="5410200" cy="2016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8"/>
              </a:lnSpc>
            </a:pPr>
            <a:r>
              <a:rPr sz="900" b="1" i="0">
                <a:solidFill>
                  <a:srgbClr val="FFFFFF"/>
                </a:solidFill>
                <a:latin typeface="Arial"/>
              </a:rPr>
              <a:t>Detalle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8600" y="2410968"/>
            <a:ext cx="6832600" cy="2016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8"/>
              </a:lnSpc>
            </a:pPr>
            <a:r>
              <a:rPr sz="900" b="1" i="0">
                <a:solidFill>
                  <a:srgbClr val="0E0E0E"/>
                </a:solidFill>
                <a:latin typeface="Arial"/>
              </a:rPr>
              <a:t>Razon social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1000" y="2410968"/>
            <a:ext cx="5410200" cy="2016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8"/>
              </a:lnSpc>
            </a:pPr>
            <a:r>
              <a:rPr sz="900" b="0" i="0">
                <a:solidFill>
                  <a:srgbClr val="1B2228"/>
                </a:solidFill>
                <a:latin typeface="Arial"/>
              </a:rPr>
              <a:t>Nike Inc. - operacion Peru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207000" y="2744216"/>
            <a:ext cx="6299200" cy="0"/>
          </a:xfrm>
          <a:prstGeom prst="line">
            <a:avLst/>
          </a:prstGeom>
          <a:ln w="8890">
            <a:solidFill>
              <a:srgbClr val="E3E7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5207000" y="2744216"/>
            <a:ext cx="6299200" cy="368300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308600" y="2779268"/>
            <a:ext cx="6832600" cy="2016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8"/>
              </a:lnSpc>
            </a:pPr>
            <a:r>
              <a:rPr sz="900" b="1" i="0">
                <a:solidFill>
                  <a:srgbClr val="0E0E0E"/>
                </a:solidFill>
                <a:latin typeface="Arial"/>
              </a:rPr>
              <a:t>Sector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1000" y="2779268"/>
            <a:ext cx="5410200" cy="2016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8"/>
              </a:lnSpc>
            </a:pPr>
            <a:r>
              <a:rPr sz="900" b="0" i="0">
                <a:solidFill>
                  <a:srgbClr val="1B2228"/>
                </a:solidFill>
                <a:latin typeface="Arial"/>
              </a:rPr>
              <a:t>Comercio minorista de articulos deportivos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207000" y="3112516"/>
            <a:ext cx="6299200" cy="0"/>
          </a:xfrm>
          <a:prstGeom prst="line">
            <a:avLst/>
          </a:prstGeom>
          <a:ln w="8890">
            <a:solidFill>
              <a:srgbClr val="E3E7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308600" y="3147568"/>
            <a:ext cx="6832600" cy="2016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8"/>
              </a:lnSpc>
            </a:pPr>
            <a:r>
              <a:rPr sz="900" b="1" i="0">
                <a:solidFill>
                  <a:srgbClr val="0E0E0E"/>
                </a:solidFill>
                <a:latin typeface="Arial"/>
              </a:rPr>
              <a:t>Sede principal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1000" y="3147568"/>
            <a:ext cx="5410200" cy="2016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8"/>
              </a:lnSpc>
            </a:pPr>
            <a:r>
              <a:rPr sz="900" b="0" i="0">
                <a:solidFill>
                  <a:srgbClr val="1B2228"/>
                </a:solidFill>
                <a:latin typeface="Arial"/>
              </a:rPr>
              <a:t>Lima, Peru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207000" y="3480816"/>
            <a:ext cx="6299200" cy="0"/>
          </a:xfrm>
          <a:prstGeom prst="line">
            <a:avLst/>
          </a:prstGeom>
          <a:ln w="8890">
            <a:solidFill>
              <a:srgbClr val="E3E7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207000" y="3480816"/>
            <a:ext cx="6299200" cy="368300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308600" y="3515868"/>
            <a:ext cx="6832600" cy="2016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8"/>
              </a:lnSpc>
            </a:pPr>
            <a:r>
              <a:rPr sz="900" b="1" i="0">
                <a:solidFill>
                  <a:srgbClr val="0E0E0E"/>
                </a:solidFill>
                <a:latin typeface="Arial"/>
              </a:rPr>
              <a:t>Canales de venta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31000" y="3515868"/>
            <a:ext cx="5410200" cy="2016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8"/>
              </a:lnSpc>
            </a:pPr>
            <a:r>
              <a:rPr sz="900" b="0" i="0">
                <a:solidFill>
                  <a:srgbClr val="1B2228"/>
                </a:solidFill>
                <a:latin typeface="Arial"/>
              </a:rPr>
              <a:t>Tienda fisica, tienda en linea y aplicacion movil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207000" y="3849116"/>
            <a:ext cx="6299200" cy="0"/>
          </a:xfrm>
          <a:prstGeom prst="line">
            <a:avLst/>
          </a:prstGeom>
          <a:ln w="8890">
            <a:solidFill>
              <a:srgbClr val="E3E7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308600" y="3884168"/>
            <a:ext cx="6832600" cy="2016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8"/>
              </a:lnSpc>
            </a:pPr>
            <a:r>
              <a:rPr sz="900" b="1" i="0">
                <a:solidFill>
                  <a:srgbClr val="0E0E0E"/>
                </a:solidFill>
                <a:latin typeface="Arial"/>
              </a:rPr>
              <a:t>Cobertura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31000" y="3884168"/>
            <a:ext cx="5410200" cy="2016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8"/>
              </a:lnSpc>
            </a:pPr>
            <a:r>
              <a:rPr sz="900" b="0" i="0">
                <a:solidFill>
                  <a:srgbClr val="1B2228"/>
                </a:solidFill>
                <a:latin typeface="Arial"/>
              </a:rPr>
              <a:t>Ventas a nivel nacional y tiendas en Lima, Arequipa y Trujillo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207000" y="4217416"/>
            <a:ext cx="6299200" cy="0"/>
          </a:xfrm>
          <a:prstGeom prst="line">
            <a:avLst/>
          </a:prstGeom>
          <a:ln w="8890">
            <a:solidFill>
              <a:srgbClr val="E3E7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5207000" y="4217416"/>
            <a:ext cx="6299200" cy="368300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308600" y="4252468"/>
            <a:ext cx="6832600" cy="2016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8"/>
              </a:lnSpc>
            </a:pPr>
            <a:r>
              <a:rPr sz="900" b="1" i="0">
                <a:solidFill>
                  <a:srgbClr val="0E0E0E"/>
                </a:solidFill>
                <a:latin typeface="Arial"/>
              </a:rPr>
              <a:t>Mision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31000" y="4252468"/>
            <a:ext cx="5410200" cy="2016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8"/>
              </a:lnSpc>
            </a:pPr>
            <a:r>
              <a:rPr sz="900" b="0" i="0">
                <a:solidFill>
                  <a:srgbClr val="1B2228"/>
                </a:solidFill>
                <a:latin typeface="Arial"/>
              </a:rPr>
              <a:t>Llevar inspiracion e innovacion deportiva a todo atleta del pais.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207000" y="4585716"/>
            <a:ext cx="6299200" cy="0"/>
          </a:xfrm>
          <a:prstGeom prst="line">
            <a:avLst/>
          </a:prstGeom>
          <a:ln w="8890">
            <a:solidFill>
              <a:srgbClr val="E3E7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308600" y="4620768"/>
            <a:ext cx="6832600" cy="2016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8"/>
              </a:lnSpc>
            </a:pPr>
            <a:r>
              <a:rPr sz="900" b="1" i="0">
                <a:solidFill>
                  <a:srgbClr val="0E0E0E"/>
                </a:solidFill>
                <a:latin typeface="Arial"/>
              </a:rPr>
              <a:t>Proceso analizado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31000" y="4620768"/>
            <a:ext cx="5410200" cy="2016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8"/>
              </a:lnSpc>
            </a:pPr>
            <a:r>
              <a:rPr sz="900" b="0" i="0">
                <a:solidFill>
                  <a:srgbClr val="1B2228"/>
                </a:solidFill>
                <a:latin typeface="Arial"/>
              </a:rPr>
              <a:t>Compra del cliente + control de stock en almacen + suministro a locales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207000" y="4954016"/>
            <a:ext cx="6299200" cy="0"/>
          </a:xfrm>
          <a:prstGeom prst="line">
            <a:avLst/>
          </a:prstGeom>
          <a:ln w="8890">
            <a:solidFill>
              <a:srgbClr val="E3E7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5207000" y="4954016"/>
            <a:ext cx="6299200" cy="368300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308600" y="4989068"/>
            <a:ext cx="6832600" cy="2016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8"/>
              </a:lnSpc>
            </a:pPr>
            <a:r>
              <a:rPr sz="900" b="1" i="0">
                <a:solidFill>
                  <a:srgbClr val="0E0E0E"/>
                </a:solidFill>
                <a:latin typeface="Arial"/>
              </a:rPr>
              <a:t>Alcance del modelo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31000" y="4989068"/>
            <a:ext cx="5410200" cy="2016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8"/>
              </a:lnSpc>
            </a:pPr>
            <a:r>
              <a:rPr sz="900" b="0" i="0">
                <a:solidFill>
                  <a:srgbClr val="1B2228"/>
                </a:solidFill>
                <a:latin typeface="Arial"/>
              </a:rPr>
              <a:t>10 tablas, 12 claves foraneas, 3FN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207000" y="5322316"/>
            <a:ext cx="6299200" cy="0"/>
          </a:xfrm>
          <a:prstGeom prst="line">
            <a:avLst/>
          </a:prstGeom>
          <a:ln w="8890">
            <a:solidFill>
              <a:srgbClr val="E3E7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5207000" y="2058416"/>
            <a:ext cx="6299200" cy="3263900"/>
          </a:xfrm>
          <a:prstGeom prst="rect">
            <a:avLst/>
          </a:prstGeom>
          <a:noFill/>
          <a:ln w="10160">
            <a:solidFill>
              <a:srgbClr val="C9D1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5207000" y="5456834"/>
            <a:ext cx="6934200" cy="1983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61"/>
              </a:lnSpc>
            </a:pPr>
            <a:r>
              <a:rPr sz="880" b="0" i="0">
                <a:solidFill>
                  <a:srgbClr val="5E676E"/>
                </a:solidFill>
                <a:latin typeface="Arial"/>
              </a:rPr>
              <a:t>El modelo no cubre recursos humanos, contabilidad ni facturacion electronica: se limita al proceso comercial y logistico.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07000" y="6537756"/>
            <a:ext cx="6934200" cy="17820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03"/>
              </a:lnSpc>
            </a:pPr>
            <a:r>
              <a:rPr sz="760" b="0" i="0">
                <a:solidFill>
                  <a:srgbClr val="8B949B"/>
                </a:solidFill>
                <a:latin typeface="Arial"/>
              </a:rPr>
              <a:t>Proyecto parcial  |  Disenio de Base de Datos Relacionales  |  Grupo 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56200" y="6537756"/>
            <a:ext cx="6350000" cy="17820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003"/>
              </a:lnSpc>
            </a:pPr>
            <a:r>
              <a:rPr sz="760" b="0" i="0">
                <a:solidFill>
                  <a:srgbClr val="8B949B"/>
                </a:solidFill>
                <a:latin typeface="Arial"/>
              </a:rPr>
              <a:t>02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ike_ware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826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826000" y="0"/>
            <a:ext cx="38100" cy="6858000"/>
          </a:xfrm>
          <a:prstGeom prst="rect">
            <a:avLst/>
          </a:prstGeom>
          <a:solidFill>
            <a:srgbClr val="C6E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id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1200" y="304800"/>
            <a:ext cx="482600" cy="79685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207000" y="457200"/>
            <a:ext cx="723900" cy="215900"/>
          </a:xfrm>
          <a:prstGeom prst="roundRect">
            <a:avLst>
              <a:gd name="adj" fmla="val 50000"/>
            </a:avLst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308600" y="493268"/>
            <a:ext cx="6832600" cy="1932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22"/>
              </a:lnSpc>
            </a:pPr>
            <a:r>
              <a:rPr sz="850" b="1" i="0">
                <a:solidFill>
                  <a:srgbClr val="3A4248"/>
                </a:solidFill>
                <a:latin typeface="Arial"/>
              </a:rPr>
              <a:t>CAPITULO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7000" y="715264"/>
            <a:ext cx="6934200" cy="3837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22"/>
              </a:lnSpc>
            </a:pPr>
            <a:r>
              <a:rPr sz="2300" b="1" i="0">
                <a:solidFill>
                  <a:srgbClr val="0E0E0E"/>
                </a:solidFill>
                <a:latin typeface="Arial"/>
              </a:rPr>
              <a:t>Por que una base de datos relacional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07000" y="1177086"/>
            <a:ext cx="6934200" cy="5336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67"/>
              </a:lnSpc>
            </a:pPr>
            <a:r>
              <a:rPr sz="960" b="0" i="0">
                <a:solidFill>
                  <a:srgbClr val="333B41"/>
                </a:solidFill>
                <a:latin typeface="Arial"/>
              </a:rPr>
              <a:t>Hoy los pedidos, el stock y el abastecimiento se manejan en hojas de calculo separadas: el mismo cliente se repite</a:t>
            </a:r>
          </a:p>
          <a:p>
            <a:pPr algn="l">
              <a:lnSpc>
                <a:spcPts val="1267"/>
              </a:lnSpc>
            </a:pPr>
            <a:r>
              <a:rPr sz="960" b="0" i="0">
                <a:solidFill>
                  <a:srgbClr val="333B41"/>
                </a:solidFill>
                <a:latin typeface="Arial"/>
              </a:rPr>
              <a:t>en cada compra, los telefonos y los productos se escriben en una sola celda y el stock se corrige a mano. Eso</a:t>
            </a:r>
          </a:p>
          <a:p>
            <a:pPr algn="l">
              <a:lnSpc>
                <a:spcPts val="1267"/>
              </a:lnSpc>
            </a:pPr>
            <a:r>
              <a:rPr sz="960" b="0" i="0">
                <a:solidFill>
                  <a:srgbClr val="333B41"/>
                </a:solidFill>
                <a:latin typeface="Arial"/>
              </a:rPr>
              <a:t>produce duplicidad, errores de digitacion y perdida de trazabilidad entre el pedido y el local que recibe la mercaderia.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07000" y="1881987"/>
            <a:ext cx="45720" cy="45720"/>
          </a:xfrm>
          <a:prstGeom prst="roundRect">
            <a:avLst>
              <a:gd name="adj" fmla="val 50000"/>
            </a:avLst>
          </a:prstGeom>
          <a:solidFill>
            <a:srgbClr val="0E0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359400" y="1786889"/>
            <a:ext cx="6781800" cy="2117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67"/>
              </a:lnSpc>
            </a:pPr>
            <a:r>
              <a:rPr sz="960" b="0" i="0">
                <a:solidFill>
                  <a:srgbClr val="1B2228"/>
                </a:solidFill>
                <a:latin typeface="Arial"/>
              </a:rPr>
              <a:t>Registrar cada pedido del cliente y el detalle de los productos vendidos.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07000" y="2087371"/>
            <a:ext cx="45720" cy="45720"/>
          </a:xfrm>
          <a:prstGeom prst="roundRect">
            <a:avLst>
              <a:gd name="adj" fmla="val 50000"/>
            </a:avLst>
          </a:prstGeom>
          <a:solidFill>
            <a:srgbClr val="0E0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359400" y="1992274"/>
            <a:ext cx="6781800" cy="2117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67"/>
              </a:lnSpc>
            </a:pPr>
            <a:r>
              <a:rPr sz="960" b="0" i="0">
                <a:solidFill>
                  <a:srgbClr val="1B2228"/>
                </a:solidFill>
                <a:latin typeface="Arial"/>
              </a:rPr>
              <a:t>Controlar las existencias por almacen, talla y color.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07000" y="2292756"/>
            <a:ext cx="45720" cy="45720"/>
          </a:xfrm>
          <a:prstGeom prst="roundRect">
            <a:avLst>
              <a:gd name="adj" fmla="val 50000"/>
            </a:avLst>
          </a:prstGeom>
          <a:solidFill>
            <a:srgbClr val="0E0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359400" y="2197658"/>
            <a:ext cx="6781800" cy="2117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67"/>
              </a:lnSpc>
            </a:pPr>
            <a:r>
              <a:rPr sz="960" b="0" i="0">
                <a:solidFill>
                  <a:srgbClr val="1B2228"/>
                </a:solidFill>
                <a:latin typeface="Arial"/>
              </a:rPr>
              <a:t>Relacionar cada producto con su categoria.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07000" y="2498140"/>
            <a:ext cx="45720" cy="45720"/>
          </a:xfrm>
          <a:prstGeom prst="roundRect">
            <a:avLst>
              <a:gd name="adj" fmla="val 50000"/>
            </a:avLst>
          </a:prstGeom>
          <a:solidFill>
            <a:srgbClr val="0E0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359400" y="2403043"/>
            <a:ext cx="6781800" cy="2117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67"/>
              </a:lnSpc>
            </a:pPr>
            <a:r>
              <a:rPr sz="960" b="0" i="0">
                <a:solidFill>
                  <a:srgbClr val="1B2228"/>
                </a:solidFill>
                <a:latin typeface="Arial"/>
              </a:rPr>
              <a:t>Representar el suministro desde los almacenes hacia los locales fisicos.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07000" y="2704134"/>
            <a:ext cx="793750" cy="228600"/>
          </a:xfrm>
          <a:prstGeom prst="roundRect">
            <a:avLst>
              <a:gd name="adj" fmla="val 50000"/>
            </a:avLst>
          </a:prstGeom>
          <a:solidFill>
            <a:srgbClr val="0E0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308600" y="2745892"/>
            <a:ext cx="6832600" cy="188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2"/>
              </a:lnSpc>
            </a:pPr>
            <a:r>
              <a:rPr sz="819" b="1" i="0">
                <a:solidFill>
                  <a:srgbClr val="C6E200"/>
                </a:solidFill>
                <a:latin typeface="Arial"/>
              </a:rPr>
              <a:t>+ CONTROL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76950" y="2704134"/>
            <a:ext cx="895350" cy="228600"/>
          </a:xfrm>
          <a:prstGeom prst="roundRect">
            <a:avLst>
              <a:gd name="adj" fmla="val 50000"/>
            </a:avLst>
          </a:prstGeom>
          <a:solidFill>
            <a:srgbClr val="0E0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178550" y="2745892"/>
            <a:ext cx="5962650" cy="188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2"/>
              </a:lnSpc>
            </a:pPr>
            <a:r>
              <a:rPr sz="819" b="1" i="0">
                <a:solidFill>
                  <a:srgbClr val="C6E200"/>
                </a:solidFill>
                <a:latin typeface="Arial"/>
              </a:rPr>
              <a:t>- DUPLICIDAD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8500" y="2704134"/>
            <a:ext cx="660400" cy="228600"/>
          </a:xfrm>
          <a:prstGeom prst="roundRect">
            <a:avLst>
              <a:gd name="adj" fmla="val 50000"/>
            </a:avLst>
          </a:prstGeom>
          <a:solidFill>
            <a:srgbClr val="0E0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150100" y="2745892"/>
            <a:ext cx="4991100" cy="188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2"/>
              </a:lnSpc>
            </a:pPr>
            <a:r>
              <a:rPr sz="819" b="1" i="0">
                <a:solidFill>
                  <a:srgbClr val="C6E200"/>
                </a:solidFill>
                <a:latin typeface="Arial"/>
              </a:rPr>
              <a:t>+ ORDEN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85100" y="2704134"/>
            <a:ext cx="1047750" cy="228600"/>
          </a:xfrm>
          <a:prstGeom prst="roundRect">
            <a:avLst>
              <a:gd name="adj" fmla="val 50000"/>
            </a:avLst>
          </a:prstGeom>
          <a:solidFill>
            <a:srgbClr val="0E0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886700" y="2745892"/>
            <a:ext cx="4254500" cy="188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2"/>
              </a:lnSpc>
            </a:pPr>
            <a:r>
              <a:rPr sz="819" b="1" i="0">
                <a:solidFill>
                  <a:srgbClr val="C6E200"/>
                </a:solidFill>
                <a:latin typeface="Arial"/>
              </a:rPr>
              <a:t>+ TRAZABILIDAD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07000" y="3116427"/>
            <a:ext cx="6934200" cy="2117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67"/>
              </a:lnSpc>
            </a:pPr>
            <a:r>
              <a:rPr sz="960" b="1" i="0">
                <a:solidFill>
                  <a:srgbClr val="0E0E0E"/>
                </a:solidFill>
                <a:latin typeface="Arial"/>
              </a:rPr>
              <a:t>Tres situaciones concretas de hoy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07000" y="3364534"/>
            <a:ext cx="6299200" cy="533400"/>
          </a:xfrm>
          <a:prstGeom prst="roundRect">
            <a:avLst>
              <a:gd name="adj" fmla="val 7142"/>
            </a:avLst>
          </a:prstGeom>
          <a:solidFill>
            <a:srgbClr val="FBFCFC"/>
          </a:solidFill>
          <a:ln w="8890">
            <a:solidFill>
              <a:srgbClr val="E1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207000" y="3364534"/>
            <a:ext cx="38100" cy="533400"/>
          </a:xfrm>
          <a:prstGeom prst="rect">
            <a:avLst/>
          </a:prstGeom>
          <a:solidFill>
            <a:srgbClr val="C9D1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334000" y="3422446"/>
            <a:ext cx="6807200" cy="2016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8"/>
              </a:lnSpc>
            </a:pPr>
            <a:r>
              <a:rPr sz="900" b="1" i="0">
                <a:solidFill>
                  <a:srgbClr val="0E0E0E"/>
                </a:solidFill>
                <a:latin typeface="Arial"/>
              </a:rPr>
              <a:t>El cliente se repite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34000" y="3601669"/>
            <a:ext cx="6807200" cy="18994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95"/>
              </a:lnSpc>
            </a:pPr>
            <a:r>
              <a:rPr sz="830" b="0" i="0">
                <a:solidFill>
                  <a:srgbClr val="394147"/>
                </a:solidFill>
                <a:latin typeface="Arial"/>
              </a:rPr>
              <a:t>Carlos Mendoza aparece en cada pedido con la misma direccion y el mismo correo.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207000" y="3974134"/>
            <a:ext cx="6299200" cy="533400"/>
          </a:xfrm>
          <a:prstGeom prst="roundRect">
            <a:avLst>
              <a:gd name="adj" fmla="val 7142"/>
            </a:avLst>
          </a:prstGeom>
          <a:solidFill>
            <a:srgbClr val="FBFCFC"/>
          </a:solidFill>
          <a:ln w="8890">
            <a:solidFill>
              <a:srgbClr val="E1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5207000" y="3974134"/>
            <a:ext cx="38100" cy="533400"/>
          </a:xfrm>
          <a:prstGeom prst="rect">
            <a:avLst/>
          </a:prstGeom>
          <a:solidFill>
            <a:srgbClr val="C9D1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334000" y="4032046"/>
            <a:ext cx="6807200" cy="2016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8"/>
              </a:lnSpc>
            </a:pPr>
            <a:r>
              <a:rPr sz="900" b="1" i="0">
                <a:solidFill>
                  <a:srgbClr val="0E0E0E"/>
                </a:solidFill>
                <a:latin typeface="Arial"/>
              </a:rPr>
              <a:t>La venta obliga a duplicar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34000" y="4211269"/>
            <a:ext cx="6807200" cy="18994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95"/>
              </a:lnSpc>
            </a:pPr>
            <a:r>
              <a:rPr sz="830" b="0" i="0">
                <a:solidFill>
                  <a:srgbClr val="394147"/>
                </a:solidFill>
                <a:latin typeface="Arial"/>
              </a:rPr>
              <a:t>Un pedido con dos productos se escribe en dos filas para poder sumar el total.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207000" y="4583734"/>
            <a:ext cx="6299200" cy="533400"/>
          </a:xfrm>
          <a:prstGeom prst="roundRect">
            <a:avLst>
              <a:gd name="adj" fmla="val 7142"/>
            </a:avLst>
          </a:prstGeom>
          <a:solidFill>
            <a:srgbClr val="FBFCFC"/>
          </a:solidFill>
          <a:ln w="8890">
            <a:solidFill>
              <a:srgbClr val="E1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5207000" y="4583734"/>
            <a:ext cx="38100" cy="533400"/>
          </a:xfrm>
          <a:prstGeom prst="rect">
            <a:avLst/>
          </a:prstGeom>
          <a:solidFill>
            <a:srgbClr val="C9D1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5334000" y="4641646"/>
            <a:ext cx="6807200" cy="2016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8"/>
              </a:lnSpc>
            </a:pPr>
            <a:r>
              <a:rPr sz="900" b="1" i="0">
                <a:solidFill>
                  <a:srgbClr val="0E0E0E"/>
                </a:solidFill>
                <a:latin typeface="Arial"/>
              </a:rPr>
              <a:t>El stock no se consulta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34000" y="4820869"/>
            <a:ext cx="6807200" cy="18994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95"/>
              </a:lnSpc>
            </a:pPr>
            <a:r>
              <a:rPr sz="830" b="0" i="0">
                <a:solidFill>
                  <a:srgbClr val="394147"/>
                </a:solidFill>
                <a:latin typeface="Arial"/>
              </a:rPr>
              <a:t>No hay forma de saber cuanto queda de una talla en un almacen ni cuando reponerlo.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07000" y="6537756"/>
            <a:ext cx="6934200" cy="17820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03"/>
              </a:lnSpc>
            </a:pPr>
            <a:r>
              <a:rPr sz="760" b="0" i="0">
                <a:solidFill>
                  <a:srgbClr val="8B949B"/>
                </a:solidFill>
                <a:latin typeface="Arial"/>
              </a:rPr>
              <a:t>Proyecto parcial  |  Disenio de Base de Datos Relacionales  |  Grupo 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56200" y="6537756"/>
            <a:ext cx="6350000" cy="17820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003"/>
              </a:lnSpc>
            </a:pPr>
            <a:r>
              <a:rPr sz="760" b="0" i="0">
                <a:solidFill>
                  <a:srgbClr val="8B949B"/>
                </a:solidFill>
                <a:latin typeface="Arial"/>
              </a:rPr>
              <a:t>03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1606" y="304495"/>
            <a:ext cx="482803" cy="796899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97408" y="761238"/>
            <a:ext cx="4974336" cy="428625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2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588" y="1662280"/>
            <a:ext cx="4861974" cy="248416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974080" y="603504"/>
            <a:ext cx="950976" cy="205740"/>
          </a:xfrm>
          <a:prstGeom prst="roundRect">
            <a:avLst>
              <a:gd name="adj" fmla="val 50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6E7378"/>
                </a:solidFill>
                <a:latin typeface="Arial"/>
              </a:rPr>
              <a:t>CAPITULO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74080" y="809244"/>
            <a:ext cx="4693920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11114"/>
                </a:solidFill>
                <a:latin typeface="Arial"/>
              </a:rPr>
              <a:t>Modelo Entidad-Relacion (MER)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74080" y="1645920"/>
            <a:ext cx="4693920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C6368"/>
                </a:solidFill>
                <a:latin typeface="Arial"/>
              </a:rPr>
              <a:t>Notacion Chen en Draw.io: no depende de ningun motor, solo muestra las entidades del negocio y como se relacionan.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74080" y="2263140"/>
            <a:ext cx="4754880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buClr>
                <a:srgbClr val="8BC34A"/>
              </a:buClr>
              <a:buFont typeface="Arial"/>
              <a:buChar char="■"/>
            </a:pPr>
            <a:r>
              <a:rPr sz="1150">
                <a:solidFill>
                  <a:srgbClr val="111114"/>
                </a:solidFill>
                <a:latin typeface="Arial"/>
              </a:rPr>
              <a:t>7 entidades: CLIENTE, PEDIDO, PRODUCTO, CATEGORIA, ALMACEN, LOCAL y SUMINISTRO.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74080" y="2914650"/>
            <a:ext cx="4754880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buClr>
                <a:srgbClr val="8BC34A"/>
              </a:buClr>
              <a:buFont typeface="Arial"/>
              <a:buChar char="■"/>
            </a:pPr>
            <a:r>
              <a:rPr sz="1150">
                <a:solidFill>
                  <a:srgbClr val="111114"/>
                </a:solidFill>
                <a:latin typeface="Arial"/>
              </a:rPr>
              <a:t>8 relaciones: REALIZA, CONTIENE, CLASIFICA, ALMACENA, PROVEE, ABASTECE, RECIBE e INCLUYE.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74080" y="3566160"/>
            <a:ext cx="4754880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buClr>
                <a:srgbClr val="8BC34A"/>
              </a:buClr>
              <a:buFont typeface="Arial"/>
              <a:buChar char="■"/>
            </a:pPr>
            <a:r>
              <a:rPr sz="1150">
                <a:solidFill>
                  <a:srgbClr val="111114"/>
                </a:solidFill>
                <a:latin typeface="Arial"/>
              </a:rPr>
              <a:t>Las 5 relaciones 1:N llevan la flecha hacia el lado 1; los rombos M:N van sin flecha.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74080" y="4217670"/>
            <a:ext cx="4754880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buClr>
                <a:srgbClr val="8BC34A"/>
              </a:buClr>
              <a:buFont typeface="Arial"/>
              <a:buChar char="■"/>
            </a:pPr>
            <a:r>
              <a:rPr sz="1150">
                <a:solidFill>
                  <a:srgbClr val="111114"/>
                </a:solidFill>
                <a:latin typeface="Arial"/>
              </a:rPr>
              <a:t>CONTIENE guarda talla, color, cantidad, precio aplicado y el almacen de origen.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74080" y="4869180"/>
            <a:ext cx="4754880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buClr>
                <a:srgbClr val="8BC34A"/>
              </a:buClr>
              <a:buFont typeface="Arial"/>
              <a:buChar char="■"/>
            </a:pPr>
            <a:r>
              <a:rPr sz="1150">
                <a:solidFill>
                  <a:srgbClr val="111114"/>
                </a:solidFill>
                <a:latin typeface="Arial"/>
              </a:rPr>
              <a:t>Ningun atributo calculado: no hay Total ni IGV en el diagrama.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74080" y="5520690"/>
            <a:ext cx="4754880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buClr>
                <a:srgbClr val="8BC34A"/>
              </a:buClr>
              <a:buFont typeface="Arial"/>
              <a:buChar char="■"/>
            </a:pPr>
            <a:r>
              <a:rPr sz="1150">
                <a:solidFill>
                  <a:srgbClr val="111114"/>
                </a:solidFill>
                <a:latin typeface="Arial"/>
              </a:rPr>
              <a:t>Telefono_secundario va punteado: es el unico atributo opcional del cliente.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1520" y="6429375"/>
            <a:ext cx="10850880" cy="0"/>
          </a:xfrm>
          <a:prstGeom prst="line">
            <a:avLst/>
          </a:prstGeom>
          <a:ln w="1143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31520" y="6501384"/>
            <a:ext cx="7315200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C6368"/>
                </a:solidFill>
                <a:latin typeface="Arial"/>
              </a:rPr>
              <a:t>Proyecto parcial  |  Disenio de Base de Datos Relacionales  |  Grupo 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501384"/>
            <a:ext cx="487680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C6368"/>
                </a:solidFill>
                <a:latin typeface="Arial"/>
              </a:rPr>
              <a:t>04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1606" y="304495"/>
            <a:ext cx="482803" cy="796899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97408" y="514350"/>
            <a:ext cx="950976" cy="205740"/>
          </a:xfrm>
          <a:prstGeom prst="roundRect">
            <a:avLst>
              <a:gd name="adj" fmla="val 50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6E7378"/>
                </a:solidFill>
                <a:latin typeface="Arial"/>
              </a:rPr>
              <a:t>CAPITULO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7408" y="720090"/>
            <a:ext cx="8534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11114"/>
                </a:solidFill>
                <a:latin typeface="Arial"/>
              </a:rPr>
              <a:t>Las 8 relaciones del MER y como se leen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7408" y="1234440"/>
            <a:ext cx="10972800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C6368"/>
                </a:solidFill>
                <a:latin typeface="Arial"/>
              </a:rPr>
              <a:t>Cada rombo se lee como una frase en espanol. El numero del rombo coincide con la lista de la derecha.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7408" y="1543050"/>
            <a:ext cx="7315200" cy="277749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2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52" y="1713744"/>
            <a:ext cx="7184111" cy="243610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7408" y="4423410"/>
            <a:ext cx="7315200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C6368"/>
                </a:solidFill>
                <a:latin typeface="Arial"/>
              </a:rPr>
              <a:t>Los rombos M:N (2, 4 y 7) no llevan flecha; en las 1:N la punta toca la entidad del lado 1. PROVEE e INCLUYE son las dos lineas que unen la zona de ventas con la de abastecimiento.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07680" y="1543050"/>
            <a:ext cx="3718560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11114"/>
                </a:solidFill>
                <a:latin typeface="Arial"/>
              </a:rPr>
              <a:t>Lectura de cada relacion</a:t>
            </a:r>
          </a:p>
        </p:txBody>
      </p:sp>
      <p:sp>
        <p:nvSpPr>
          <p:cNvPr id="10" name="Oval 9"/>
          <p:cNvSpPr/>
          <p:nvPr/>
        </p:nvSpPr>
        <p:spPr>
          <a:xfrm>
            <a:off x="8107680" y="1796796"/>
            <a:ext cx="207264" cy="205740"/>
          </a:xfrm>
          <a:prstGeom prst="ellipse">
            <a:avLst/>
          </a:prstGeom>
          <a:solidFill>
            <a:srgbClr val="D4E84A"/>
          </a:solidFill>
          <a:ln w="9525">
            <a:solidFill>
              <a:srgbClr val="8A9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111114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8095" y="1769364"/>
            <a:ext cx="3438143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11114"/>
                </a:solidFill>
                <a:latin typeface="Arial"/>
              </a:rPr>
              <a:t>REALIZA (1,N)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8095" y="1954530"/>
            <a:ext cx="3438143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C6368"/>
                </a:solidFill>
                <a:latin typeface="Arial"/>
              </a:rPr>
              <a:t>un CLIENTE realiza muchos PEDIDOS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107680" y="2290572"/>
            <a:ext cx="3718560" cy="0"/>
          </a:xfrm>
          <a:prstGeom prst="line">
            <a:avLst/>
          </a:prstGeom>
          <a:ln w="11430">
            <a:solidFill>
              <a:srgbClr val="E8EA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8107680" y="2359152"/>
            <a:ext cx="207264" cy="205740"/>
          </a:xfrm>
          <a:prstGeom prst="ellipse">
            <a:avLst/>
          </a:prstGeom>
          <a:solidFill>
            <a:srgbClr val="D4E84A"/>
          </a:solidFill>
          <a:ln w="9525">
            <a:solidFill>
              <a:srgbClr val="8A9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111114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8095" y="2331720"/>
            <a:ext cx="3438143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11114"/>
                </a:solidFill>
                <a:latin typeface="Arial"/>
              </a:rPr>
              <a:t>CONTIENE (M,N)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8095" y="2516886"/>
            <a:ext cx="3438143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C6368"/>
                </a:solidFill>
                <a:latin typeface="Arial"/>
              </a:rPr>
              <a:t>un PEDIDO contiene muchos PRODUCTOS (talla, color, cantidad, almacen)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107680" y="2852928"/>
            <a:ext cx="3718560" cy="0"/>
          </a:xfrm>
          <a:prstGeom prst="line">
            <a:avLst/>
          </a:prstGeom>
          <a:ln w="11430">
            <a:solidFill>
              <a:srgbClr val="E8EA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8107680" y="2921508"/>
            <a:ext cx="207264" cy="205740"/>
          </a:xfrm>
          <a:prstGeom prst="ellipse">
            <a:avLst/>
          </a:prstGeom>
          <a:solidFill>
            <a:srgbClr val="D4E84A"/>
          </a:solidFill>
          <a:ln w="9525">
            <a:solidFill>
              <a:srgbClr val="8A9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111114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8095" y="2894076"/>
            <a:ext cx="3438143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11114"/>
                </a:solidFill>
                <a:latin typeface="Arial"/>
              </a:rPr>
              <a:t>CLASIFICA (1,N)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8095" y="3079242"/>
            <a:ext cx="3438143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C6368"/>
                </a:solidFill>
                <a:latin typeface="Arial"/>
              </a:rPr>
              <a:t>una CATEGORIA clasifica muchos PRODUCTOS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107680" y="3415284"/>
            <a:ext cx="3718560" cy="0"/>
          </a:xfrm>
          <a:prstGeom prst="line">
            <a:avLst/>
          </a:prstGeom>
          <a:ln w="11430">
            <a:solidFill>
              <a:srgbClr val="E8EA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8107680" y="3483864"/>
            <a:ext cx="207264" cy="205740"/>
          </a:xfrm>
          <a:prstGeom prst="ellipse">
            <a:avLst/>
          </a:prstGeom>
          <a:solidFill>
            <a:srgbClr val="D4E84A"/>
          </a:solidFill>
          <a:ln w="9525">
            <a:solidFill>
              <a:srgbClr val="8A9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111114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8095" y="3456432"/>
            <a:ext cx="3438143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11114"/>
                </a:solidFill>
                <a:latin typeface="Arial"/>
              </a:rPr>
              <a:t>ALMACENA (M,N)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8095" y="3641598"/>
            <a:ext cx="3438143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C6368"/>
                </a:solidFill>
                <a:latin typeface="Arial"/>
              </a:rPr>
              <a:t>un ALMACEN almacena muchos PRODUCTOS por talla y color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107680" y="3977639"/>
            <a:ext cx="3718560" cy="0"/>
          </a:xfrm>
          <a:prstGeom prst="line">
            <a:avLst/>
          </a:prstGeom>
          <a:ln w="11430">
            <a:solidFill>
              <a:srgbClr val="E8EA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8107680" y="4046220"/>
            <a:ext cx="207264" cy="205740"/>
          </a:xfrm>
          <a:prstGeom prst="ellipse">
            <a:avLst/>
          </a:prstGeom>
          <a:solidFill>
            <a:srgbClr val="D4E84A"/>
          </a:solidFill>
          <a:ln w="9525">
            <a:solidFill>
              <a:srgbClr val="8A9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111114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8095" y="4018787"/>
            <a:ext cx="3438143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11114"/>
                </a:solidFill>
                <a:latin typeface="Arial"/>
              </a:rPr>
              <a:t>PROVEE (1,N)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8095" y="4203954"/>
            <a:ext cx="3438143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C6368"/>
                </a:solidFill>
                <a:latin typeface="Arial"/>
              </a:rPr>
              <a:t>un SUMINISTRO provee a muchos PEDIDOS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107680" y="4539995"/>
            <a:ext cx="3718560" cy="0"/>
          </a:xfrm>
          <a:prstGeom prst="line">
            <a:avLst/>
          </a:prstGeom>
          <a:ln w="11430">
            <a:solidFill>
              <a:srgbClr val="E8EA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8107680" y="4608575"/>
            <a:ext cx="207264" cy="205740"/>
          </a:xfrm>
          <a:prstGeom prst="ellipse">
            <a:avLst/>
          </a:prstGeom>
          <a:solidFill>
            <a:srgbClr val="D4E84A"/>
          </a:solidFill>
          <a:ln w="9525">
            <a:solidFill>
              <a:srgbClr val="8A9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111114"/>
                </a:solidFill>
                <a:latin typeface="Arial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8095" y="4581143"/>
            <a:ext cx="3438143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11114"/>
                </a:solidFill>
                <a:latin typeface="Arial"/>
              </a:rPr>
              <a:t>ABASTECE (1,N)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8095" y="4766310"/>
            <a:ext cx="3438143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C6368"/>
                </a:solidFill>
                <a:latin typeface="Arial"/>
              </a:rPr>
              <a:t>un ALMACEN abastece muchos SUMINISTROS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107680" y="5102351"/>
            <a:ext cx="3718560" cy="0"/>
          </a:xfrm>
          <a:prstGeom prst="line">
            <a:avLst/>
          </a:prstGeom>
          <a:ln w="11430">
            <a:solidFill>
              <a:srgbClr val="E8EA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8107680" y="5170931"/>
            <a:ext cx="207264" cy="205740"/>
          </a:xfrm>
          <a:prstGeom prst="ellipse">
            <a:avLst/>
          </a:prstGeom>
          <a:solidFill>
            <a:srgbClr val="D4E84A"/>
          </a:solidFill>
          <a:ln w="9525">
            <a:solidFill>
              <a:srgbClr val="8A9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111114"/>
                </a:solidFill>
                <a:latin typeface="Arial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8095" y="5143499"/>
            <a:ext cx="3438143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11114"/>
                </a:solidFill>
                <a:latin typeface="Arial"/>
              </a:rPr>
              <a:t>INCLUYE (M,N)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8095" y="5328665"/>
            <a:ext cx="3438143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C6368"/>
                </a:solidFill>
                <a:latin typeface="Arial"/>
              </a:rPr>
              <a:t>un SUMINISTRO incluye muchos PRODUCTOS (talla, color, cantidad)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107680" y="5664707"/>
            <a:ext cx="3718560" cy="0"/>
          </a:xfrm>
          <a:prstGeom prst="line">
            <a:avLst/>
          </a:prstGeom>
          <a:ln w="11430">
            <a:solidFill>
              <a:srgbClr val="E8EA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8107680" y="5733287"/>
            <a:ext cx="207264" cy="205740"/>
          </a:xfrm>
          <a:prstGeom prst="ellipse">
            <a:avLst/>
          </a:prstGeom>
          <a:solidFill>
            <a:srgbClr val="D4E84A"/>
          </a:solidFill>
          <a:ln w="9525">
            <a:solidFill>
              <a:srgbClr val="8A9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111114"/>
                </a:solidFill>
                <a:latin typeface="Arial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88095" y="5705855"/>
            <a:ext cx="3438143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11114"/>
                </a:solidFill>
                <a:latin typeface="Arial"/>
              </a:rPr>
              <a:t>RECIBE (1,N)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8095" y="5891021"/>
            <a:ext cx="3438143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C6368"/>
                </a:solidFill>
                <a:latin typeface="Arial"/>
              </a:rPr>
              <a:t>un LOCAL recibe muchos SUMINISTROS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107680" y="6227063"/>
            <a:ext cx="3718560" cy="0"/>
          </a:xfrm>
          <a:prstGeom prst="line">
            <a:avLst/>
          </a:prstGeom>
          <a:ln w="11430">
            <a:solidFill>
              <a:srgbClr val="E8EA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31520" y="6429375"/>
            <a:ext cx="10850880" cy="0"/>
          </a:xfrm>
          <a:prstGeom prst="line">
            <a:avLst/>
          </a:prstGeom>
          <a:ln w="1143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31520" y="6501384"/>
            <a:ext cx="7315200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C6368"/>
                </a:solidFill>
                <a:latin typeface="Arial"/>
              </a:rPr>
              <a:t>Proyecto parcial  |  Disenio de Base de Datos Relacionales  |  Grupo 05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501384"/>
            <a:ext cx="487680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C6368"/>
                </a:solidFill>
                <a:latin typeface="Arial"/>
              </a:rPr>
              <a:t>05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d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1200" y="304800"/>
            <a:ext cx="482600" cy="796851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8000" y="508000"/>
            <a:ext cx="730250" cy="215900"/>
          </a:xfrm>
          <a:prstGeom prst="roundRect">
            <a:avLst>
              <a:gd name="adj" fmla="val 50000"/>
            </a:avLst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09600" y="544068"/>
            <a:ext cx="11531600" cy="1932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22"/>
              </a:lnSpc>
            </a:pPr>
            <a:r>
              <a:rPr sz="850" b="1" i="0">
                <a:solidFill>
                  <a:srgbClr val="3A4248"/>
                </a:solidFill>
                <a:latin typeface="Arial"/>
              </a:rPr>
              <a:t>CAPITULO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798576"/>
            <a:ext cx="11633200" cy="3331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22"/>
              </a:lnSpc>
            </a:pPr>
            <a:r>
              <a:rPr sz="1950" b="1" i="0">
                <a:solidFill>
                  <a:srgbClr val="0E0E0E"/>
                </a:solidFill>
                <a:latin typeface="Arial"/>
              </a:rPr>
              <a:t>Normalizacion: de la tabla general (0FN) a la primera forma normal</a:t>
            </a:r>
          </a:p>
        </p:txBody>
      </p:sp>
      <p:pic>
        <p:nvPicPr>
          <p:cNvPr id="6" name="Picture 5" descr="NORM_0FN_1F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2918" y="1247520"/>
            <a:ext cx="6298163" cy="3810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000" y="5740400"/>
            <a:ext cx="2540000" cy="558800"/>
          </a:xfrm>
          <a:prstGeom prst="roundRect">
            <a:avLst>
              <a:gd name="adj" fmla="val 6818"/>
            </a:avLst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35000" y="5805932"/>
            <a:ext cx="11506200" cy="2435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150" b="1" i="0">
                <a:solidFill>
                  <a:srgbClr val="0E0E0E"/>
                </a:solidFill>
                <a:latin typeface="Arial"/>
              </a:rPr>
              <a:t>0FN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6028537"/>
            <a:ext cx="11506200" cy="188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2"/>
              </a:lnSpc>
            </a:pPr>
            <a:r>
              <a:rPr sz="819" b="0" i="0">
                <a:solidFill>
                  <a:srgbClr val="5E676E"/>
                </a:solidFill>
                <a:latin typeface="Arial"/>
              </a:rPr>
              <a:t>3 filas con listas en una celda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75000" y="5740400"/>
            <a:ext cx="2540000" cy="558800"/>
          </a:xfrm>
          <a:prstGeom prst="roundRect">
            <a:avLst>
              <a:gd name="adj" fmla="val 6818"/>
            </a:avLst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302000" y="5805932"/>
            <a:ext cx="8839200" cy="2435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150" b="1" i="0">
                <a:solidFill>
                  <a:srgbClr val="0E0E0E"/>
                </a:solidFill>
                <a:latin typeface="Arial"/>
              </a:rPr>
              <a:t>1FN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02000" y="6028537"/>
            <a:ext cx="8839200" cy="188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2"/>
              </a:lnSpc>
            </a:pPr>
            <a:r>
              <a:rPr sz="819" b="0" i="0">
                <a:solidFill>
                  <a:srgbClr val="5E676E"/>
                </a:solidFill>
                <a:latin typeface="Arial"/>
              </a:rPr>
              <a:t>1 valor por celda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42000" y="5740400"/>
            <a:ext cx="2540000" cy="558800"/>
          </a:xfrm>
          <a:prstGeom prst="roundRect">
            <a:avLst>
              <a:gd name="adj" fmla="val 6818"/>
            </a:avLst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969000" y="5805932"/>
            <a:ext cx="6172200" cy="2435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150" b="1" i="0">
                <a:solidFill>
                  <a:srgbClr val="0E0E0E"/>
                </a:solidFill>
                <a:latin typeface="Arial"/>
              </a:rPr>
              <a:t>3FN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69000" y="6028537"/>
            <a:ext cx="6172200" cy="188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2"/>
              </a:lnSpc>
            </a:pPr>
            <a:r>
              <a:rPr sz="819" b="0" i="0">
                <a:solidFill>
                  <a:srgbClr val="5E676E"/>
                </a:solidFill>
                <a:latin typeface="Arial"/>
              </a:rPr>
              <a:t>10 tablas finales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6200" y="816660"/>
            <a:ext cx="3175000" cy="2284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sz="1060" b="1" i="0">
                <a:solidFill>
                  <a:srgbClr val="0E0E0E"/>
                </a:solidFill>
                <a:latin typeface="Arial"/>
              </a:rPr>
              <a:t>Que se gana en 1FN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6200" y="1190040"/>
            <a:ext cx="45720" cy="45720"/>
          </a:xfrm>
          <a:prstGeom prst="roundRect">
            <a:avLst>
              <a:gd name="adj" fmla="val 50000"/>
            </a:avLst>
          </a:prstGeom>
          <a:solidFill>
            <a:srgbClr val="0E0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18600" y="1098905"/>
            <a:ext cx="3022600" cy="3592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14"/>
              </a:lnSpc>
            </a:pPr>
            <a:r>
              <a:rPr sz="919" b="0" i="0">
                <a:solidFill>
                  <a:srgbClr val="1B2228"/>
                </a:solidFill>
                <a:latin typeface="Arial"/>
              </a:rPr>
              <a:t>Cada valor se puede consultar y filtrar por</a:t>
            </a:r>
          </a:p>
          <a:p>
            <a:pPr algn="l">
              <a:lnSpc>
                <a:spcPts val="1214"/>
              </a:lnSpc>
            </a:pPr>
            <a:r>
              <a:rPr sz="919" b="0" i="0">
                <a:solidFill>
                  <a:srgbClr val="1B2228"/>
                </a:solidFill>
                <a:latin typeface="Arial"/>
              </a:rPr>
              <a:t>separado.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6200" y="1561998"/>
            <a:ext cx="45720" cy="45720"/>
          </a:xfrm>
          <a:prstGeom prst="roundRect">
            <a:avLst>
              <a:gd name="adj" fmla="val 50000"/>
            </a:avLst>
          </a:prstGeom>
          <a:solidFill>
            <a:srgbClr val="0E0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118600" y="1470863"/>
            <a:ext cx="3022600" cy="3592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14"/>
              </a:lnSpc>
            </a:pPr>
            <a:r>
              <a:rPr sz="919" b="0" i="0">
                <a:solidFill>
                  <a:srgbClr val="1B2228"/>
                </a:solidFill>
                <a:latin typeface="Arial"/>
              </a:rPr>
              <a:t>Desaparecen las celdas con listas escritas a</a:t>
            </a:r>
          </a:p>
          <a:p>
            <a:pPr algn="l">
              <a:lnSpc>
                <a:spcPts val="1214"/>
              </a:lnSpc>
            </a:pPr>
            <a:r>
              <a:rPr sz="919" b="0" i="0">
                <a:solidFill>
                  <a:srgbClr val="1B2228"/>
                </a:solidFill>
                <a:latin typeface="Arial"/>
              </a:rPr>
              <a:t>mano.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6200" y="1933956"/>
            <a:ext cx="45720" cy="45720"/>
          </a:xfrm>
          <a:prstGeom prst="roundRect">
            <a:avLst>
              <a:gd name="adj" fmla="val 50000"/>
            </a:avLst>
          </a:prstGeom>
          <a:solidFill>
            <a:srgbClr val="0E0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118600" y="1842820"/>
            <a:ext cx="3022600" cy="3592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14"/>
              </a:lnSpc>
            </a:pPr>
            <a:r>
              <a:rPr sz="919" b="0" i="0">
                <a:solidFill>
                  <a:srgbClr val="1B2228"/>
                </a:solidFill>
                <a:latin typeface="Arial"/>
              </a:rPr>
              <a:t>La fila queda identificada por pedido +</a:t>
            </a:r>
          </a:p>
          <a:p>
            <a:pPr algn="l">
              <a:lnSpc>
                <a:spcPts val="1214"/>
              </a:lnSpc>
            </a:pPr>
            <a:r>
              <a:rPr sz="919" b="0" i="0">
                <a:solidFill>
                  <a:srgbClr val="1B2228"/>
                </a:solidFill>
                <a:latin typeface="Arial"/>
              </a:rPr>
              <a:t>producto + talla + color.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6200" y="2305913"/>
            <a:ext cx="45720" cy="45720"/>
          </a:xfrm>
          <a:prstGeom prst="roundRect">
            <a:avLst>
              <a:gd name="adj" fmla="val 50000"/>
            </a:avLst>
          </a:prstGeom>
          <a:solidFill>
            <a:srgbClr val="0E0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118600" y="2214778"/>
            <a:ext cx="3022600" cy="3592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14"/>
              </a:lnSpc>
            </a:pPr>
            <a:r>
              <a:rPr sz="919" b="0" i="0">
                <a:solidFill>
                  <a:srgbClr val="1B2228"/>
                </a:solidFill>
                <a:latin typeface="Arial"/>
              </a:rPr>
              <a:t>Quedan solo valores atomicos: un metodo de</a:t>
            </a:r>
          </a:p>
          <a:p>
            <a:pPr algn="l">
              <a:lnSpc>
                <a:spcPts val="1214"/>
              </a:lnSpc>
            </a:pPr>
            <a:r>
              <a:rPr sz="919" b="0" i="0">
                <a:solidFill>
                  <a:srgbClr val="1B2228"/>
                </a:solidFill>
                <a:latin typeface="Arial"/>
              </a:rPr>
              <a:t>pago por celda.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6200" y="2677871"/>
            <a:ext cx="45720" cy="45720"/>
          </a:xfrm>
          <a:prstGeom prst="roundRect">
            <a:avLst>
              <a:gd name="adj" fmla="val 50000"/>
            </a:avLst>
          </a:prstGeom>
          <a:solidFill>
            <a:srgbClr val="0E0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118600" y="2586736"/>
            <a:ext cx="3022600" cy="3592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14"/>
              </a:lnSpc>
            </a:pPr>
            <a:r>
              <a:rPr sz="919" b="0" i="0">
                <a:solidFill>
                  <a:srgbClr val="1B2228"/>
                </a:solidFill>
                <a:latin typeface="Arial"/>
              </a:rPr>
              <a:t>El telefono secundario deja de ser un</a:t>
            </a:r>
          </a:p>
          <a:p>
            <a:pPr algn="l">
              <a:lnSpc>
                <a:spcPts val="1214"/>
              </a:lnSpc>
            </a:pPr>
            <a:r>
              <a:rPr sz="919" b="0" i="0">
                <a:solidFill>
                  <a:srgbClr val="1B2228"/>
                </a:solidFill>
                <a:latin typeface="Arial"/>
              </a:rPr>
              <a:t>problema: puede ir vacio.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66200" y="3104388"/>
            <a:ext cx="2540000" cy="12700"/>
          </a:xfrm>
          <a:prstGeom prst="rect">
            <a:avLst/>
          </a:prstGeom>
          <a:solidFill>
            <a:srgbClr val="D5D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966200" y="3186480"/>
            <a:ext cx="3175000" cy="2117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67"/>
              </a:lnSpc>
            </a:pPr>
            <a:r>
              <a:rPr sz="960" b="1" i="0">
                <a:solidFill>
                  <a:srgbClr val="0E0E0E"/>
                </a:solidFill>
                <a:latin typeface="Arial"/>
              </a:rPr>
              <a:t>Antes (0FN)  vs.  despues (1FN)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6200" y="3417519"/>
            <a:ext cx="3175000" cy="19161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8"/>
              </a:lnSpc>
            </a:pPr>
            <a:r>
              <a:rPr sz="840" b="0" i="0">
                <a:solidFill>
                  <a:srgbClr val="B02424"/>
                </a:solidFill>
                <a:latin typeface="Arial"/>
              </a:rPr>
              <a:t>telefonos_cliente = 987654321, 945112233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6200" y="3608019"/>
            <a:ext cx="3175000" cy="19161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8"/>
              </a:lnSpc>
            </a:pPr>
            <a:r>
              <a:rPr sz="840" b="0" i="0">
                <a:solidFill>
                  <a:srgbClr val="1F6F3C"/>
                </a:solidFill>
                <a:latin typeface="Arial"/>
              </a:rPr>
              <a:t>telefono = 987654321  /  telefono_secundario = 945112233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6200" y="3849319"/>
            <a:ext cx="3175000" cy="19161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8"/>
              </a:lnSpc>
            </a:pPr>
            <a:r>
              <a:rPr sz="840" b="0" i="0">
                <a:solidFill>
                  <a:srgbClr val="B02424"/>
                </a:solidFill>
                <a:latin typeface="Arial"/>
              </a:rPr>
              <a:t>productos_comprados = 1001 - Pegasus, 1002 - Air Force 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6200" y="4039819"/>
            <a:ext cx="3175000" cy="19161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8"/>
              </a:lnSpc>
            </a:pPr>
            <a:r>
              <a:rPr sz="840" b="0" i="0">
                <a:solidFill>
                  <a:srgbClr val="1F6F3C"/>
                </a:solidFill>
                <a:latin typeface="Arial"/>
              </a:rPr>
              <a:t>dos filas, cada una con id_producto y cantidad</a:t>
            </a:r>
          </a:p>
        </p:txBody>
      </p:sp>
      <p:pic>
        <p:nvPicPr>
          <p:cNvPr id="33" name="Picture 32" descr="id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9800" y="5384800"/>
            <a:ext cx="381000" cy="629093"/>
          </a:xfrm>
          <a:prstGeom prst="rect">
            <a:avLst/>
          </a:prstGeom>
        </p:spPr>
      </p:pic>
      <p:cxnSp>
        <p:nvCxnSpPr>
          <p:cNvPr id="34" name="Connector 33"/>
          <p:cNvCxnSpPr/>
          <p:nvPr/>
        </p:nvCxnSpPr>
        <p:spPr>
          <a:xfrm>
            <a:off x="685800" y="6451600"/>
            <a:ext cx="10820400" cy="0"/>
          </a:xfrm>
          <a:prstGeom prst="line">
            <a:avLst/>
          </a:prstGeom>
          <a:ln w="10160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85800" y="6537756"/>
            <a:ext cx="11455400" cy="17820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03"/>
              </a:lnSpc>
            </a:pPr>
            <a:r>
              <a:rPr sz="760" b="0" i="0">
                <a:solidFill>
                  <a:srgbClr val="8B949B"/>
                </a:solidFill>
                <a:latin typeface="Arial"/>
              </a:rPr>
              <a:t>Proyecto parcial  |  Disenio de Base de Datos Relacionales  |  Grupo 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56200" y="6537756"/>
            <a:ext cx="6350000" cy="17820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003"/>
              </a:lnSpc>
            </a:pPr>
            <a:r>
              <a:rPr sz="760" b="0" i="0">
                <a:solidFill>
                  <a:srgbClr val="8B949B"/>
                </a:solidFill>
                <a:latin typeface="Arial"/>
              </a:rPr>
              <a:t>06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d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1200" y="304800"/>
            <a:ext cx="482600" cy="796851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8000" y="508000"/>
            <a:ext cx="723900" cy="215900"/>
          </a:xfrm>
          <a:prstGeom prst="roundRect">
            <a:avLst>
              <a:gd name="adj" fmla="val 50000"/>
            </a:avLst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09600" y="544068"/>
            <a:ext cx="11531600" cy="1932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22"/>
              </a:lnSpc>
            </a:pPr>
            <a:r>
              <a:rPr sz="850" b="1" i="0">
                <a:solidFill>
                  <a:srgbClr val="3A4248"/>
                </a:solidFill>
                <a:latin typeface="Arial"/>
              </a:rPr>
              <a:t>CAPITULO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798576"/>
            <a:ext cx="11633200" cy="61544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22"/>
              </a:lnSpc>
            </a:pPr>
            <a:r>
              <a:rPr sz="1950" b="1" i="0">
                <a:solidFill>
                  <a:srgbClr val="0E0E0E"/>
                </a:solidFill>
                <a:latin typeface="Arial"/>
              </a:rPr>
              <a:t>De la segunda a la tercera forma normal: el esquema final de 10</a:t>
            </a:r>
          </a:p>
          <a:p>
            <a:pPr algn="l">
              <a:lnSpc>
                <a:spcPts val="2222"/>
              </a:lnSpc>
            </a:pPr>
            <a:r>
              <a:rPr sz="1950" b="1" i="0">
                <a:solidFill>
                  <a:srgbClr val="0E0E0E"/>
                </a:solidFill>
                <a:latin typeface="Arial"/>
              </a:rPr>
              <a:t>tablas</a:t>
            </a:r>
          </a:p>
        </p:txBody>
      </p:sp>
      <p:pic>
        <p:nvPicPr>
          <p:cNvPr id="6" name="Picture 5" descr="NORM_2FN_3F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474470"/>
            <a:ext cx="6827520" cy="271549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8000" y="5740400"/>
            <a:ext cx="2540000" cy="558800"/>
          </a:xfrm>
          <a:prstGeom prst="roundRect">
            <a:avLst>
              <a:gd name="adj" fmla="val 6818"/>
            </a:avLst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35000" y="5805932"/>
            <a:ext cx="11506200" cy="2435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150" b="1" i="0">
                <a:solidFill>
                  <a:srgbClr val="0E0E0E"/>
                </a:solidFill>
                <a:latin typeface="Arial"/>
              </a:rPr>
              <a:t>2FN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6028537"/>
            <a:ext cx="11506200" cy="188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2"/>
              </a:lnSpc>
            </a:pPr>
            <a:r>
              <a:rPr sz="819" b="0" i="0">
                <a:solidFill>
                  <a:srgbClr val="5E676E"/>
                </a:solidFill>
                <a:latin typeface="Arial"/>
              </a:rPr>
              <a:t>sin dependencias parciales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75000" y="5740400"/>
            <a:ext cx="2540000" cy="558800"/>
          </a:xfrm>
          <a:prstGeom prst="roundRect">
            <a:avLst>
              <a:gd name="adj" fmla="val 6818"/>
            </a:avLst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302000" y="5805932"/>
            <a:ext cx="8839200" cy="2435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150" b="1" i="0">
                <a:solidFill>
                  <a:srgbClr val="0E0E0E"/>
                </a:solidFill>
                <a:latin typeface="Arial"/>
              </a:rPr>
              <a:t>3FN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02000" y="6028537"/>
            <a:ext cx="8839200" cy="188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2"/>
              </a:lnSpc>
            </a:pPr>
            <a:r>
              <a:rPr sz="819" b="0" i="0">
                <a:solidFill>
                  <a:srgbClr val="5E676E"/>
                </a:solidFill>
                <a:latin typeface="Arial"/>
              </a:rPr>
              <a:t>sin dependencia transitiva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42000" y="5740400"/>
            <a:ext cx="2540000" cy="558800"/>
          </a:xfrm>
          <a:prstGeom prst="roundRect">
            <a:avLst>
              <a:gd name="adj" fmla="val 6818"/>
            </a:avLst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969000" y="5805932"/>
            <a:ext cx="6172200" cy="2435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150" b="1" i="0">
                <a:solidFill>
                  <a:srgbClr val="0E0E0E"/>
                </a:solidFill>
                <a:latin typeface="Arial"/>
              </a:rPr>
              <a:t>10 tablas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69000" y="6028537"/>
            <a:ext cx="6172200" cy="188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2"/>
              </a:lnSpc>
            </a:pPr>
            <a:r>
              <a:rPr sz="819" b="0" i="0">
                <a:solidFill>
                  <a:srgbClr val="5E676E"/>
                </a:solidFill>
                <a:latin typeface="Arial"/>
              </a:rPr>
              <a:t>esquema final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6200" y="816660"/>
            <a:ext cx="3175000" cy="2284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sz="1060" b="1" i="0">
                <a:solidFill>
                  <a:srgbClr val="0E0E0E"/>
                </a:solidFill>
                <a:latin typeface="Arial"/>
              </a:rPr>
              <a:t>Las 10 tablas en 3FN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6200" y="1099312"/>
            <a:ext cx="3175000" cy="2016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8"/>
              </a:lnSpc>
            </a:pPr>
            <a:r>
              <a:rPr sz="900" b="0" i="0">
                <a:solidFill>
                  <a:srgbClr val="1B2228"/>
                </a:solidFill>
                <a:latin typeface="Arial"/>
              </a:rPr>
              <a:t>01  CLIENTE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6200" y="1287272"/>
            <a:ext cx="3175000" cy="2016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8"/>
              </a:lnSpc>
            </a:pPr>
            <a:r>
              <a:rPr sz="900" b="0" i="0">
                <a:solidFill>
                  <a:srgbClr val="1B2228"/>
                </a:solidFill>
                <a:latin typeface="Arial"/>
              </a:rPr>
              <a:t>02  PEDIDO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6200" y="1475232"/>
            <a:ext cx="3175000" cy="2016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8"/>
              </a:lnSpc>
            </a:pPr>
            <a:r>
              <a:rPr sz="900" b="0" i="0">
                <a:solidFill>
                  <a:srgbClr val="1B2228"/>
                </a:solidFill>
                <a:latin typeface="Arial"/>
              </a:rPr>
              <a:t>03  DETALLE_VENTA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6200" y="1663192"/>
            <a:ext cx="3175000" cy="2016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8"/>
              </a:lnSpc>
            </a:pPr>
            <a:r>
              <a:rPr sz="900" b="0" i="0">
                <a:solidFill>
                  <a:srgbClr val="1B2228"/>
                </a:solidFill>
                <a:latin typeface="Arial"/>
              </a:rPr>
              <a:t>04  CATEGORIA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6200" y="1851152"/>
            <a:ext cx="3175000" cy="2016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8"/>
              </a:lnSpc>
            </a:pPr>
            <a:r>
              <a:rPr sz="900" b="0" i="0">
                <a:solidFill>
                  <a:srgbClr val="1B2228"/>
                </a:solidFill>
                <a:latin typeface="Arial"/>
              </a:rPr>
              <a:t>05  PRODUCTO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6200" y="2039112"/>
            <a:ext cx="3175000" cy="2016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8"/>
              </a:lnSpc>
            </a:pPr>
            <a:r>
              <a:rPr sz="900" b="0" i="0">
                <a:solidFill>
                  <a:srgbClr val="1B2228"/>
                </a:solidFill>
                <a:latin typeface="Arial"/>
              </a:rPr>
              <a:t>06  ALMACEN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6200" y="2227072"/>
            <a:ext cx="3175000" cy="2016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8"/>
              </a:lnSpc>
            </a:pPr>
            <a:r>
              <a:rPr sz="900" b="0" i="0">
                <a:solidFill>
                  <a:srgbClr val="1B2228"/>
                </a:solidFill>
                <a:latin typeface="Arial"/>
              </a:rPr>
              <a:t>07  STOCK_ALMACEN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6200" y="2415032"/>
            <a:ext cx="3175000" cy="2016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8"/>
              </a:lnSpc>
            </a:pPr>
            <a:r>
              <a:rPr sz="900" b="0" i="0">
                <a:solidFill>
                  <a:srgbClr val="1B2228"/>
                </a:solidFill>
                <a:latin typeface="Arial"/>
              </a:rPr>
              <a:t>08  LOCAL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6200" y="2602992"/>
            <a:ext cx="3175000" cy="2016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8"/>
              </a:lnSpc>
            </a:pPr>
            <a:r>
              <a:rPr sz="900" b="0" i="0">
                <a:solidFill>
                  <a:srgbClr val="1B2228"/>
                </a:solidFill>
                <a:latin typeface="Arial"/>
              </a:rPr>
              <a:t>09  SUMINISTRO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6200" y="2790952"/>
            <a:ext cx="3175000" cy="2016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8"/>
              </a:lnSpc>
            </a:pPr>
            <a:r>
              <a:rPr sz="900" b="0" i="0">
                <a:solidFill>
                  <a:srgbClr val="1B2228"/>
                </a:solidFill>
                <a:latin typeface="Arial"/>
              </a:rPr>
              <a:t>10  DETALLE_SUMINISTRO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66200" y="3073400"/>
            <a:ext cx="2540000" cy="12700"/>
          </a:xfrm>
          <a:prstGeom prst="rect">
            <a:avLst/>
          </a:prstGeom>
          <a:solidFill>
            <a:srgbClr val="D5D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966200" y="3157118"/>
            <a:ext cx="3175000" cy="1983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61"/>
              </a:lnSpc>
            </a:pPr>
            <a:r>
              <a:rPr sz="880" b="1" i="0">
                <a:solidFill>
                  <a:srgbClr val="0E0E0E"/>
                </a:solidFill>
                <a:latin typeface="Arial"/>
              </a:rPr>
              <a:t>2FN   sin dependencias parciales: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6200" y="3322624"/>
            <a:ext cx="3175000" cy="1949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35"/>
              </a:lnSpc>
            </a:pPr>
            <a:r>
              <a:rPr sz="860" b="0" i="0">
                <a:solidFill>
                  <a:srgbClr val="333B41"/>
                </a:solidFill>
                <a:latin typeface="Arial"/>
              </a:rPr>
              <a:t>cada tabla depende por completo de su clave.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6200" y="3665118"/>
            <a:ext cx="3175000" cy="1983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61"/>
              </a:lnSpc>
            </a:pPr>
            <a:r>
              <a:rPr sz="880" b="1" i="0">
                <a:solidFill>
                  <a:srgbClr val="0E0E0E"/>
                </a:solidFill>
                <a:latin typeface="Arial"/>
              </a:rPr>
              <a:t>3FN   sin dependencia transitiva: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6200" y="3830624"/>
            <a:ext cx="3175000" cy="3391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35"/>
              </a:lnSpc>
            </a:pPr>
            <a:r>
              <a:rPr sz="860" b="0" i="0">
                <a:solidFill>
                  <a:srgbClr val="333B41"/>
                </a:solidFill>
                <a:latin typeface="Arial"/>
              </a:rPr>
              <a:t>CLIENTE sale de PEDIDO y CATEGORIA sale de</a:t>
            </a:r>
          </a:p>
          <a:p>
            <a:pPr algn="l">
              <a:lnSpc>
                <a:spcPts val="1135"/>
              </a:lnSpc>
            </a:pPr>
            <a:r>
              <a:rPr sz="860" b="0" i="0">
                <a:solidFill>
                  <a:srgbClr val="333B41"/>
                </a:solidFill>
                <a:latin typeface="Arial"/>
              </a:rPr>
              <a:t>PRODUCTO: quedan como tablas propias.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6200" y="4249724"/>
            <a:ext cx="3175000" cy="48331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35"/>
              </a:lnSpc>
            </a:pPr>
            <a:r>
              <a:rPr sz="860" b="1" i="0">
                <a:solidFill>
                  <a:srgbClr val="0E0E0E"/>
                </a:solidFill>
                <a:latin typeface="Arial"/>
              </a:rPr>
              <a:t>Ningun dato calculado se guarda: total e IGV salen de una vista</a:t>
            </a:r>
          </a:p>
          <a:p>
            <a:pPr algn="l">
              <a:lnSpc>
                <a:spcPts val="1135"/>
              </a:lnSpc>
            </a:pPr>
            <a:r>
              <a:rPr sz="860" b="1" i="0">
                <a:solidFill>
                  <a:srgbClr val="0E0E0E"/>
                </a:solidFill>
                <a:latin typeface="Arial"/>
              </a:rPr>
              <a:t>VW_PEDIDO_TOTALES: no se guarda en</a:t>
            </a:r>
          </a:p>
          <a:p>
            <a:pPr algn="l">
              <a:lnSpc>
                <a:spcPts val="1135"/>
              </a:lnSpc>
            </a:pPr>
            <a:r>
              <a:rPr sz="860" b="1" i="0">
                <a:solidFill>
                  <a:srgbClr val="0E0E0E"/>
                </a:solidFill>
                <a:latin typeface="Arial"/>
              </a:rPr>
              <a:t>ninguna tabla.</a:t>
            </a:r>
          </a:p>
        </p:txBody>
      </p:sp>
      <p:pic>
        <p:nvPicPr>
          <p:cNvPr id="33" name="Picture 32" descr="id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9800" y="5384800"/>
            <a:ext cx="381000" cy="629093"/>
          </a:xfrm>
          <a:prstGeom prst="rect">
            <a:avLst/>
          </a:prstGeom>
        </p:spPr>
      </p:pic>
      <p:cxnSp>
        <p:nvCxnSpPr>
          <p:cNvPr id="34" name="Connector 33"/>
          <p:cNvCxnSpPr/>
          <p:nvPr/>
        </p:nvCxnSpPr>
        <p:spPr>
          <a:xfrm>
            <a:off x="685800" y="6451600"/>
            <a:ext cx="10820400" cy="0"/>
          </a:xfrm>
          <a:prstGeom prst="line">
            <a:avLst/>
          </a:prstGeom>
          <a:ln w="10160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85800" y="6537756"/>
            <a:ext cx="11455400" cy="17820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03"/>
              </a:lnSpc>
            </a:pPr>
            <a:r>
              <a:rPr sz="760" b="0" i="0">
                <a:solidFill>
                  <a:srgbClr val="8B949B"/>
                </a:solidFill>
                <a:latin typeface="Arial"/>
              </a:rPr>
              <a:t>Proyecto parcial  |  Disenio de Base de Datos Relacionales  |  Grupo 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56200" y="6537756"/>
            <a:ext cx="6350000" cy="17820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003"/>
              </a:lnSpc>
            </a:pPr>
            <a:r>
              <a:rPr sz="760" b="0" i="0">
                <a:solidFill>
                  <a:srgbClr val="8B949B"/>
                </a:solidFill>
                <a:latin typeface="Arial"/>
              </a:rPr>
              <a:t>07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d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1200" y="304800"/>
            <a:ext cx="482600" cy="796851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85800" y="431800"/>
            <a:ext cx="723900" cy="215900"/>
          </a:xfrm>
          <a:prstGeom prst="roundRect">
            <a:avLst>
              <a:gd name="adj" fmla="val 50000"/>
            </a:avLst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7400" y="467868"/>
            <a:ext cx="11353800" cy="1932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22"/>
              </a:lnSpc>
            </a:pPr>
            <a:r>
              <a:rPr sz="850" b="1" i="0">
                <a:solidFill>
                  <a:srgbClr val="3A4248"/>
                </a:solidFill>
                <a:latin typeface="Arial"/>
              </a:rPr>
              <a:t>CAPITULO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3928"/>
            <a:ext cx="11455400" cy="35483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94"/>
              </a:lnSpc>
            </a:pPr>
            <a:r>
              <a:rPr sz="2100" b="1" i="0">
                <a:solidFill>
                  <a:srgbClr val="0E0E0E"/>
                </a:solidFill>
                <a:latin typeface="Arial"/>
              </a:rPr>
              <a:t>Correcciones del docente aplicadas al modelo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097737"/>
            <a:ext cx="11455400" cy="20838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40"/>
              </a:lnSpc>
            </a:pPr>
            <a:r>
              <a:rPr sz="940" b="0" i="0">
                <a:solidFill>
                  <a:srgbClr val="333B41"/>
                </a:solidFill>
                <a:latin typeface="Arial"/>
              </a:rPr>
              <a:t>El profesor reviso la entrega y dejo observaciones por escrito. Cada punto se aplico en la normalizacion, en el MER y en los scripts: este es el resumen de que cambio y donde.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401419"/>
            <a:ext cx="10820400" cy="317500"/>
          </a:xfrm>
          <a:prstGeom prst="rect">
            <a:avLst/>
          </a:prstGeom>
          <a:solidFill>
            <a:srgbClr val="0E0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87400" y="1477010"/>
            <a:ext cx="11353800" cy="1815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29"/>
              </a:lnSpc>
            </a:pPr>
            <a:r>
              <a:rPr sz="780" b="1" i="0">
                <a:solidFill>
                  <a:srgbClr val="FFFFFF"/>
                </a:solidFill>
                <a:latin typeface="Arial"/>
              </a:rPr>
              <a:t>Punto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0800" y="1477010"/>
            <a:ext cx="10820400" cy="1815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29"/>
              </a:lnSpc>
            </a:pPr>
            <a:r>
              <a:rPr sz="780" b="1" i="0">
                <a:solidFill>
                  <a:srgbClr val="FFFFFF"/>
                </a:solidFill>
                <a:latin typeface="Arial"/>
              </a:rPr>
              <a:t>Lo que observo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87800" y="1477010"/>
            <a:ext cx="8153400" cy="1815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29"/>
              </a:lnSpc>
            </a:pPr>
            <a:r>
              <a:rPr sz="780" b="1" i="0">
                <a:solidFill>
                  <a:srgbClr val="FFFFFF"/>
                </a:solidFill>
                <a:latin typeface="Arial"/>
              </a:rPr>
              <a:t>Como se corrigio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32800" y="1477010"/>
            <a:ext cx="3708400" cy="1815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29"/>
              </a:lnSpc>
            </a:pPr>
            <a:r>
              <a:rPr sz="780" b="1" i="0">
                <a:solidFill>
                  <a:srgbClr val="FFFFFF"/>
                </a:solidFill>
                <a:latin typeface="Arial"/>
              </a:rPr>
              <a:t>Donde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400" y="1756410"/>
            <a:ext cx="11353800" cy="1815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29"/>
              </a:lnSpc>
            </a:pPr>
            <a:r>
              <a:rPr sz="780" b="1" i="0">
                <a:solidFill>
                  <a:srgbClr val="0E0E0E"/>
                </a:solidFill>
                <a:latin typeface="Arial"/>
              </a:rPr>
              <a:t>PK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0800" y="1756410"/>
            <a:ext cx="10820400" cy="1815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29"/>
              </a:lnSpc>
            </a:pPr>
            <a:r>
              <a:rPr sz="780" b="0" i="0">
                <a:solidFill>
                  <a:srgbClr val="1B2228"/>
                </a:solidFill>
                <a:latin typeface="Arial"/>
              </a:rPr>
              <a:t>STOCK_ALMACEN con PK de 4 campos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87800" y="1756410"/>
            <a:ext cx="8153400" cy="1815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29"/>
              </a:lnSpc>
            </a:pPr>
            <a:r>
              <a:rPr sz="780" b="0" i="0">
                <a:solidFill>
                  <a:srgbClr val="1B2228"/>
                </a:solidFill>
                <a:latin typeface="Arial"/>
              </a:rPr>
              <a:t>Se mantiene igual: el docente confirmo que es correcta (falso positivo).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2800" y="1756410"/>
            <a:ext cx="3708400" cy="1815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29"/>
              </a:lnSpc>
            </a:pPr>
            <a:r>
              <a:rPr sz="780" b="0" i="0">
                <a:solidFill>
                  <a:srgbClr val="1B2228"/>
                </a:solidFill>
                <a:latin typeface="Arial"/>
              </a:rPr>
              <a:t>STOCK_ALMACEN (talla, color, almacen, producto)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" y="1972919"/>
            <a:ext cx="10820400" cy="0"/>
          </a:xfrm>
          <a:prstGeom prst="line">
            <a:avLst/>
          </a:prstGeom>
          <a:ln w="8890">
            <a:solidFill>
              <a:srgbClr val="E3E7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85800" y="1972919"/>
            <a:ext cx="10820400" cy="380796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87400" y="2010410"/>
            <a:ext cx="11353800" cy="1815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29"/>
              </a:lnSpc>
            </a:pPr>
            <a:r>
              <a:rPr sz="780" b="1" i="0">
                <a:solidFill>
                  <a:srgbClr val="0E0E0E"/>
                </a:solidFill>
                <a:latin typeface="Arial"/>
              </a:rPr>
              <a:t>PK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0800" y="2010410"/>
            <a:ext cx="10820400" cy="31231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29"/>
              </a:lnSpc>
            </a:pPr>
            <a:r>
              <a:rPr sz="780" b="0" i="0">
                <a:solidFill>
                  <a:srgbClr val="1B2228"/>
                </a:solidFill>
                <a:latin typeface="Arial"/>
              </a:rPr>
              <a:t>SUMINISTRO_LOCAL no permitia dos despachos el</a:t>
            </a:r>
          </a:p>
          <a:p>
            <a:pPr algn="l">
              <a:lnSpc>
                <a:spcPts val="1029"/>
              </a:lnSpc>
            </a:pPr>
            <a:r>
              <a:rPr sz="780" b="0" i="0">
                <a:solidFill>
                  <a:srgbClr val="1B2228"/>
                </a:solidFill>
                <a:latin typeface="Arial"/>
              </a:rPr>
              <a:t>mismo dia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87800" y="2010410"/>
            <a:ext cx="8153400" cy="31231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29"/>
              </a:lnSpc>
            </a:pPr>
            <a:r>
              <a:rPr sz="780" b="0" i="0">
                <a:solidFill>
                  <a:srgbClr val="1B2228"/>
                </a:solidFill>
                <a:latin typeface="Arial"/>
              </a:rPr>
              <a:t>Se creo SUMINISTRO con id_suministro como PK y se agrego DETALLE_SUMINISTRO con</a:t>
            </a:r>
          </a:p>
          <a:p>
            <a:pPr algn="l">
              <a:lnSpc>
                <a:spcPts val="1029"/>
              </a:lnSpc>
            </a:pPr>
            <a:r>
              <a:rPr sz="780" b="0" i="0">
                <a:solidFill>
                  <a:srgbClr val="1B2228"/>
                </a:solidFill>
                <a:latin typeface="Arial"/>
              </a:rPr>
              <a:t>producto y cantidad.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2800" y="2010410"/>
            <a:ext cx="3708400" cy="1815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29"/>
              </a:lnSpc>
            </a:pPr>
            <a:r>
              <a:rPr sz="780" b="0" i="0">
                <a:solidFill>
                  <a:srgbClr val="1B2228"/>
                </a:solidFill>
                <a:latin typeface="Arial"/>
              </a:rPr>
              <a:t>SUMINISTRO + DETALLE_SUMINISTRO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5800" y="2353716"/>
            <a:ext cx="10820400" cy="0"/>
          </a:xfrm>
          <a:prstGeom prst="line">
            <a:avLst/>
          </a:prstGeom>
          <a:ln w="8890">
            <a:solidFill>
              <a:srgbClr val="E3E7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87400" y="2391206"/>
            <a:ext cx="11353800" cy="1815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29"/>
              </a:lnSpc>
            </a:pPr>
            <a:r>
              <a:rPr sz="780" b="1" i="0">
                <a:solidFill>
                  <a:srgbClr val="0E0E0E"/>
                </a:solidFill>
                <a:latin typeface="Arial"/>
              </a:rPr>
              <a:t>1FN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0800" y="2391206"/>
            <a:ext cx="10820400" cy="1815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29"/>
              </a:lnSpc>
            </a:pPr>
            <a:r>
              <a:rPr sz="780" b="0" i="0">
                <a:solidFill>
                  <a:srgbClr val="1B2228"/>
                </a:solidFill>
                <a:latin typeface="Arial"/>
              </a:rPr>
              <a:t>'Yape / Plin' eran dos metodos en una celda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87800" y="2391206"/>
            <a:ext cx="8153400" cy="1815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29"/>
              </a:lnSpc>
            </a:pPr>
            <a:r>
              <a:rPr sz="780" b="0" i="0">
                <a:solidFill>
                  <a:srgbClr val="1B2228"/>
                </a:solidFill>
                <a:latin typeface="Arial"/>
              </a:rPr>
              <a:t>Se dejo un solo metodo por fila: el pedido 9002 queda con 'Yape'.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2800" y="2391206"/>
            <a:ext cx="3708400" cy="1815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29"/>
              </a:lnSpc>
            </a:pPr>
            <a:r>
              <a:rPr sz="780" b="0" i="0">
                <a:solidFill>
                  <a:srgbClr val="1B2228"/>
                </a:solidFill>
                <a:latin typeface="Arial"/>
              </a:rPr>
              <a:t>PEDIDO.metodo_pago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85800" y="2607716"/>
            <a:ext cx="10820400" cy="0"/>
          </a:xfrm>
          <a:prstGeom prst="line">
            <a:avLst/>
          </a:prstGeom>
          <a:ln w="8890">
            <a:solidFill>
              <a:srgbClr val="E3E7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85800" y="2607716"/>
            <a:ext cx="10820400" cy="254000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87400" y="2645206"/>
            <a:ext cx="11353800" cy="1815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29"/>
              </a:lnSpc>
            </a:pPr>
            <a:r>
              <a:rPr sz="780" b="1" i="0">
                <a:solidFill>
                  <a:srgbClr val="0E0E0E"/>
                </a:solidFill>
                <a:latin typeface="Arial"/>
              </a:rPr>
              <a:t>1FN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0800" y="2645206"/>
            <a:ext cx="10820400" cy="1815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29"/>
              </a:lnSpc>
            </a:pPr>
            <a:r>
              <a:rPr sz="780" b="0" i="0">
                <a:solidFill>
                  <a:srgbClr val="1B2228"/>
                </a:solidFill>
                <a:latin typeface="Arial"/>
              </a:rPr>
              <a:t>Se cambiaron los colores del stock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87800" y="2645206"/>
            <a:ext cx="8153400" cy="1815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29"/>
              </a:lnSpc>
            </a:pPr>
            <a:r>
              <a:rPr sz="780" b="0" i="0">
                <a:solidFill>
                  <a:srgbClr val="1B2228"/>
                </a:solidFill>
                <a:latin typeface="Arial"/>
              </a:rPr>
              <a:t>Se restauraron los datos de la tabla general: Negro, Blanco y Azul Marino.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32800" y="2645206"/>
            <a:ext cx="3708400" cy="1815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29"/>
              </a:lnSpc>
            </a:pPr>
            <a:r>
              <a:rPr sz="780" b="0" i="0">
                <a:solidFill>
                  <a:srgbClr val="1B2228"/>
                </a:solidFill>
                <a:latin typeface="Arial"/>
              </a:rPr>
              <a:t>STOCK_ALMACEN.color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85800" y="2861716"/>
            <a:ext cx="10820400" cy="0"/>
          </a:xfrm>
          <a:prstGeom prst="line">
            <a:avLst/>
          </a:prstGeom>
          <a:ln w="8890">
            <a:solidFill>
              <a:srgbClr val="E3E7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87400" y="2899206"/>
            <a:ext cx="11353800" cy="1815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29"/>
              </a:lnSpc>
            </a:pPr>
            <a:r>
              <a:rPr sz="780" b="1" i="0">
                <a:solidFill>
                  <a:srgbClr val="0E0E0E"/>
                </a:solidFill>
                <a:latin typeface="Arial"/>
              </a:rPr>
              <a:t>1FN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20800" y="2899206"/>
            <a:ext cx="10820400" cy="1815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29"/>
              </a:lnSpc>
            </a:pPr>
            <a:r>
              <a:rPr sz="780" b="0" i="0">
                <a:solidFill>
                  <a:srgbClr val="1B2228"/>
                </a:solidFill>
                <a:latin typeface="Arial"/>
              </a:rPr>
              <a:t>PK de un solo campo en DETALLE_VENTA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87800" y="2899206"/>
            <a:ext cx="8153400" cy="1815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29"/>
              </a:lnSpc>
            </a:pPr>
            <a:r>
              <a:rPr sz="780" b="0" i="0">
                <a:solidFill>
                  <a:srgbClr val="1B2228"/>
                </a:solidFill>
                <a:latin typeface="Arial"/>
              </a:rPr>
              <a:t>Ahora la PK es compuesta: pedido + producto + talla + color, para que la 2FN si cambie algo.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32800" y="2899206"/>
            <a:ext cx="3708400" cy="1815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29"/>
              </a:lnSpc>
            </a:pPr>
            <a:r>
              <a:rPr sz="780" b="0" i="0">
                <a:solidFill>
                  <a:srgbClr val="1B2228"/>
                </a:solidFill>
                <a:latin typeface="Arial"/>
              </a:rPr>
              <a:t>DETALLE_VENTA (4 columnas PK)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85800" y="3115716"/>
            <a:ext cx="10820400" cy="0"/>
          </a:xfrm>
          <a:prstGeom prst="line">
            <a:avLst/>
          </a:prstGeom>
          <a:ln w="8890">
            <a:solidFill>
              <a:srgbClr val="E3E7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685800" y="3115716"/>
            <a:ext cx="10820400" cy="380796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87400" y="3153206"/>
            <a:ext cx="11353800" cy="1815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29"/>
              </a:lnSpc>
            </a:pPr>
            <a:r>
              <a:rPr sz="780" b="1" i="0">
                <a:solidFill>
                  <a:srgbClr val="0E0E0E"/>
                </a:solidFill>
                <a:latin typeface="Arial"/>
              </a:rPr>
              <a:t>2FN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20800" y="3153206"/>
            <a:ext cx="10820400" cy="1815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29"/>
              </a:lnSpc>
            </a:pPr>
            <a:r>
              <a:rPr sz="780" b="0" i="0">
                <a:solidFill>
                  <a:srgbClr val="1B2228"/>
                </a:solidFill>
                <a:latin typeface="Arial"/>
              </a:rPr>
              <a:t>CLIENTE separado antes de tiempo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87800" y="3153206"/>
            <a:ext cx="8153400" cy="31231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29"/>
              </a:lnSpc>
            </a:pPr>
            <a:r>
              <a:rPr sz="780" b="0" i="0">
                <a:solidFill>
                  <a:srgbClr val="1B2228"/>
                </a:solidFill>
                <a:latin typeface="Arial"/>
              </a:rPr>
              <a:t>En 2FN los datos del cliente se quedan dentro de PEDIDO; la separacion se hace recien en</a:t>
            </a:r>
          </a:p>
          <a:p>
            <a:pPr algn="l">
              <a:lnSpc>
                <a:spcPts val="1029"/>
              </a:lnSpc>
            </a:pPr>
            <a:r>
              <a:rPr sz="780" b="0" i="0">
                <a:solidFill>
                  <a:srgbClr val="1B2228"/>
                </a:solidFill>
                <a:latin typeface="Arial"/>
              </a:rPr>
              <a:t>3FN.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32800" y="3153206"/>
            <a:ext cx="3708400" cy="1815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29"/>
              </a:lnSpc>
            </a:pPr>
            <a:r>
              <a:rPr sz="780" b="0" i="0">
                <a:solidFill>
                  <a:srgbClr val="1B2228"/>
                </a:solidFill>
                <a:latin typeface="Arial"/>
              </a:rPr>
              <a:t>Hoja 3_Segunda_Forma_Normal_2FN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85800" y="3496513"/>
            <a:ext cx="10820400" cy="0"/>
          </a:xfrm>
          <a:prstGeom prst="line">
            <a:avLst/>
          </a:prstGeom>
          <a:ln w="8890">
            <a:solidFill>
              <a:srgbClr val="E3E7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787400" y="3534003"/>
            <a:ext cx="11353800" cy="1815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29"/>
              </a:lnSpc>
            </a:pPr>
            <a:r>
              <a:rPr sz="780" b="1" i="0">
                <a:solidFill>
                  <a:srgbClr val="0E0E0E"/>
                </a:solidFill>
                <a:latin typeface="Arial"/>
              </a:rPr>
              <a:t>2FN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20800" y="3534003"/>
            <a:ext cx="10820400" cy="31231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29"/>
              </a:lnSpc>
            </a:pPr>
            <a:r>
              <a:rPr sz="780" b="0" i="0">
                <a:solidFill>
                  <a:srgbClr val="1B2228"/>
                </a:solidFill>
                <a:latin typeface="Arial"/>
              </a:rPr>
              <a:t>Se perdia de que almacen salio cada producto</a:t>
            </a:r>
          </a:p>
          <a:p>
            <a:pPr algn="l">
              <a:lnSpc>
                <a:spcPts val="1029"/>
              </a:lnSpc>
            </a:pPr>
            <a:r>
              <a:rPr sz="780" b="0" i="0">
                <a:solidFill>
                  <a:srgbClr val="1B2228"/>
                </a:solidFill>
                <a:latin typeface="Arial"/>
              </a:rPr>
              <a:t>vendido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87800" y="3534003"/>
            <a:ext cx="8153400" cy="1815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29"/>
              </a:lnSpc>
            </a:pPr>
            <a:r>
              <a:rPr sz="780" b="0" i="0">
                <a:solidFill>
                  <a:srgbClr val="1B2228"/>
                </a:solidFill>
                <a:latin typeface="Arial"/>
              </a:rPr>
              <a:t>DETALLE_VENTA guarda ALMACEN_id_almacen.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32800" y="3534003"/>
            <a:ext cx="3708400" cy="1815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29"/>
              </a:lnSpc>
            </a:pPr>
            <a:r>
              <a:rPr sz="780" b="0" i="0">
                <a:solidFill>
                  <a:srgbClr val="1B2228"/>
                </a:solidFill>
                <a:latin typeface="Arial"/>
              </a:rPr>
              <a:t>DETALLE_VENTA.ALMACEN_id_almacen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85800" y="3877310"/>
            <a:ext cx="10820400" cy="0"/>
          </a:xfrm>
          <a:prstGeom prst="line">
            <a:avLst/>
          </a:prstGeom>
          <a:ln w="8890">
            <a:solidFill>
              <a:srgbClr val="E3E7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685800" y="3877310"/>
            <a:ext cx="10820400" cy="254000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787400" y="3914800"/>
            <a:ext cx="11353800" cy="1815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29"/>
              </a:lnSpc>
            </a:pPr>
            <a:r>
              <a:rPr sz="780" b="1" i="0">
                <a:solidFill>
                  <a:srgbClr val="0E0E0E"/>
                </a:solidFill>
                <a:latin typeface="Arial"/>
              </a:rPr>
              <a:t>2FN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20800" y="3914800"/>
            <a:ext cx="10820400" cy="1815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29"/>
              </a:lnSpc>
            </a:pPr>
            <a:r>
              <a:rPr sz="780" b="0" i="0">
                <a:solidFill>
                  <a:srgbClr val="1B2228"/>
                </a:solidFill>
                <a:latin typeface="Arial"/>
              </a:rPr>
              <a:t>Se perdia que suministro corresponde a cada pedido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87800" y="3914800"/>
            <a:ext cx="8153400" cy="1815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29"/>
              </a:lnSpc>
            </a:pPr>
            <a:r>
              <a:rPr sz="780" b="0" i="0">
                <a:solidFill>
                  <a:srgbClr val="1B2228"/>
                </a:solidFill>
                <a:latin typeface="Arial"/>
              </a:rPr>
              <a:t>PEDIDO guarda SUMINISTRO_id_suministro.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32800" y="3914800"/>
            <a:ext cx="3708400" cy="1815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29"/>
              </a:lnSpc>
            </a:pPr>
            <a:r>
              <a:rPr sz="780" b="0" i="0">
                <a:solidFill>
                  <a:srgbClr val="1B2228"/>
                </a:solidFill>
                <a:latin typeface="Arial"/>
              </a:rPr>
              <a:t>PEDIDO.SUMINISTRO_id_suministro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85800" y="4131310"/>
            <a:ext cx="10820400" cy="0"/>
          </a:xfrm>
          <a:prstGeom prst="line">
            <a:avLst/>
          </a:prstGeom>
          <a:ln w="8890">
            <a:solidFill>
              <a:srgbClr val="E3E7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787400" y="4168800"/>
            <a:ext cx="11353800" cy="1815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29"/>
              </a:lnSpc>
            </a:pPr>
            <a:r>
              <a:rPr sz="780" b="1" i="0">
                <a:solidFill>
                  <a:srgbClr val="0E0E0E"/>
                </a:solidFill>
                <a:latin typeface="Arial"/>
              </a:rPr>
              <a:t>3FN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320800" y="4168800"/>
            <a:ext cx="10820400" cy="1815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29"/>
              </a:lnSpc>
            </a:pPr>
            <a:r>
              <a:rPr sz="780" b="0" i="0">
                <a:solidFill>
                  <a:srgbClr val="1B2228"/>
                </a:solidFill>
                <a:latin typeface="Arial"/>
              </a:rPr>
              <a:t>total e igv no se guardan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87800" y="4168800"/>
            <a:ext cx="8153400" cy="31231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29"/>
              </a:lnSpc>
            </a:pPr>
            <a:r>
              <a:rPr sz="780" b="0" i="0">
                <a:solidFill>
                  <a:srgbClr val="1B2228"/>
                </a:solidFill>
                <a:latin typeface="Arial"/>
              </a:rPr>
              <a:t>Se eliminaron las dos columnas: el total de la linea y el igv del pedido se calculan en la vista y no se digitan.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32800" y="4168800"/>
            <a:ext cx="3708400" cy="1815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29"/>
              </a:lnSpc>
            </a:pPr>
            <a:r>
              <a:rPr sz="780" b="0" i="0">
                <a:solidFill>
                  <a:srgbClr val="1B2228"/>
                </a:solidFill>
                <a:latin typeface="Arial"/>
              </a:rPr>
              <a:t>vista VW_PEDIDO_TOTALES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685800" y="4512106"/>
            <a:ext cx="10820400" cy="0"/>
          </a:xfrm>
          <a:prstGeom prst="line">
            <a:avLst/>
          </a:prstGeom>
          <a:ln w="8890">
            <a:solidFill>
              <a:srgbClr val="E3E7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685800" y="4512106"/>
            <a:ext cx="10820400" cy="254000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787400" y="4549597"/>
            <a:ext cx="11353800" cy="1815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29"/>
              </a:lnSpc>
            </a:pPr>
            <a:r>
              <a:rPr sz="780" b="1" i="0">
                <a:solidFill>
                  <a:srgbClr val="0E0E0E"/>
                </a:solidFill>
                <a:latin typeface="Arial"/>
              </a:rPr>
              <a:t>3FN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320800" y="4549597"/>
            <a:ext cx="10820400" cy="1815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29"/>
              </a:lnSpc>
            </a:pPr>
            <a:r>
              <a:rPr sz="780" b="0" i="0">
                <a:solidFill>
                  <a:srgbClr val="1B2228"/>
                </a:solidFill>
                <a:latin typeface="Arial"/>
              </a:rPr>
              <a:t>DETALLE_VENTA guardaba talla pero no color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987800" y="4549597"/>
            <a:ext cx="8153400" cy="1815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29"/>
              </a:lnSpc>
            </a:pPr>
            <a:r>
              <a:rPr sz="780" b="0" i="0">
                <a:solidFill>
                  <a:srgbClr val="1B2228"/>
                </a:solidFill>
                <a:latin typeface="Arial"/>
              </a:rPr>
              <a:t>Se agrego color_elegido, porque el stock se maneja por talla y color.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432800" y="4549597"/>
            <a:ext cx="3708400" cy="1815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29"/>
              </a:lnSpc>
            </a:pPr>
            <a:r>
              <a:rPr sz="780" b="0" i="0">
                <a:solidFill>
                  <a:srgbClr val="1B2228"/>
                </a:solidFill>
                <a:latin typeface="Arial"/>
              </a:rPr>
              <a:t>DETALLE_VENTA.color_elegido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685800" y="4766106"/>
            <a:ext cx="10820400" cy="0"/>
          </a:xfrm>
          <a:prstGeom prst="line">
            <a:avLst/>
          </a:prstGeom>
          <a:ln w="8890">
            <a:solidFill>
              <a:srgbClr val="E3E7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787400" y="4803597"/>
            <a:ext cx="11353800" cy="1815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29"/>
              </a:lnSpc>
            </a:pPr>
            <a:r>
              <a:rPr sz="780" b="1" i="0">
                <a:solidFill>
                  <a:srgbClr val="0E0E0E"/>
                </a:solidFill>
                <a:latin typeface="Arial"/>
              </a:rPr>
              <a:t>3FN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320800" y="4803597"/>
            <a:ext cx="10820400" cy="31231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29"/>
              </a:lnSpc>
            </a:pPr>
            <a:r>
              <a:rPr sz="780" b="0" i="0">
                <a:solidFill>
                  <a:srgbClr val="1B2228"/>
                </a:solidFill>
                <a:latin typeface="Arial"/>
              </a:rPr>
              <a:t>Estados contradictorios entre ENTREGADO y EN</a:t>
            </a:r>
          </a:p>
          <a:p>
            <a:pPr algn="l">
              <a:lnSpc>
                <a:spcPts val="1029"/>
              </a:lnSpc>
            </a:pPr>
            <a:r>
              <a:rPr sz="780" b="0" i="0">
                <a:solidFill>
                  <a:srgbClr val="1B2228"/>
                </a:solidFill>
                <a:latin typeface="Arial"/>
              </a:rPr>
              <a:t>RUTA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987800" y="4803597"/>
            <a:ext cx="8153400" cy="31231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29"/>
              </a:lnSpc>
            </a:pPr>
            <a:r>
              <a:rPr sz="780" b="0" i="0">
                <a:solidFill>
                  <a:srgbClr val="1B2228"/>
                </a:solidFill>
                <a:latin typeface="Arial"/>
              </a:rPr>
              <a:t>Se definieron dos procesos distintos: estado_envio es del pedido al cliente y</a:t>
            </a:r>
          </a:p>
          <a:p>
            <a:pPr algn="l">
              <a:lnSpc>
                <a:spcPts val="1029"/>
              </a:lnSpc>
            </a:pPr>
            <a:r>
              <a:rPr sz="780" b="0" i="0">
                <a:solidFill>
                  <a:srgbClr val="1B2228"/>
                </a:solidFill>
                <a:latin typeface="Arial"/>
              </a:rPr>
              <a:t>estado_despacho es del CD al local.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432800" y="4803597"/>
            <a:ext cx="3708400" cy="1815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29"/>
              </a:lnSpc>
            </a:pPr>
            <a:r>
              <a:rPr sz="780" b="0" i="0">
                <a:solidFill>
                  <a:srgbClr val="1B2228"/>
                </a:solidFill>
                <a:latin typeface="Arial"/>
              </a:rPr>
              <a:t>Hoja 5_Estados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685800" y="5146903"/>
            <a:ext cx="10820400" cy="0"/>
          </a:xfrm>
          <a:prstGeom prst="line">
            <a:avLst/>
          </a:prstGeom>
          <a:ln w="8890">
            <a:solidFill>
              <a:srgbClr val="E3E7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angle 71"/>
          <p:cNvSpPr/>
          <p:nvPr/>
        </p:nvSpPr>
        <p:spPr>
          <a:xfrm>
            <a:off x="685800" y="1401419"/>
            <a:ext cx="10820400" cy="3745483"/>
          </a:xfrm>
          <a:prstGeom prst="rect">
            <a:avLst/>
          </a:prstGeom>
          <a:noFill/>
          <a:ln w="10160">
            <a:solidFill>
              <a:srgbClr val="C9D1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685800" y="5280202"/>
            <a:ext cx="11455400" cy="20838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40"/>
              </a:lnSpc>
            </a:pPr>
            <a:r>
              <a:rPr sz="940" b="1" i="0">
                <a:solidFill>
                  <a:srgbClr val="0E0E0E"/>
                </a:solidFill>
                <a:latin typeface="Arial"/>
              </a:rPr>
              <a:t>Punto 3FN: por que el pedido 9002 esta ENTREGADO y su suministro EN RUTA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85800" y="5502503"/>
            <a:ext cx="5308600" cy="685800"/>
          </a:xfrm>
          <a:prstGeom prst="roundRect">
            <a:avLst>
              <a:gd name="adj" fmla="val 7407"/>
            </a:avLst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Rectangle 74"/>
          <p:cNvSpPr/>
          <p:nvPr/>
        </p:nvSpPr>
        <p:spPr>
          <a:xfrm>
            <a:off x="685800" y="5502503"/>
            <a:ext cx="38100" cy="685800"/>
          </a:xfrm>
          <a:prstGeom prst="rect">
            <a:avLst/>
          </a:prstGeom>
          <a:solidFill>
            <a:srgbClr val="C6E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838200" y="5573521"/>
            <a:ext cx="11303000" cy="1983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61"/>
              </a:lnSpc>
            </a:pPr>
            <a:r>
              <a:rPr sz="880" b="1" i="0">
                <a:solidFill>
                  <a:srgbClr val="0E0E0E"/>
                </a:solidFill>
                <a:latin typeface="Arial"/>
              </a:rPr>
              <a:t>estado_envio  (PEDIDO)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38200" y="5740247"/>
            <a:ext cx="11303000" cy="184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6"/>
              </a:lnSpc>
            </a:pPr>
            <a:r>
              <a:rPr sz="800" b="0" i="0">
                <a:solidFill>
                  <a:srgbClr val="394147"/>
                </a:solidFill>
                <a:latin typeface="Arial"/>
              </a:rPr>
              <a:t>PENDIENTE, ENVIADO, ENTREGADO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38200" y="5905754"/>
            <a:ext cx="11303000" cy="1815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29"/>
              </a:lnSpc>
            </a:pPr>
            <a:r>
              <a:rPr sz="780" b="0" i="0">
                <a:solidFill>
                  <a:srgbClr val="5E676E"/>
                </a:solidFill>
                <a:latin typeface="Arial"/>
              </a:rPr>
              <a:t>Pedido 9002 = ENTREGADO: el cliente ya recibio su compra.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197600" y="5502503"/>
            <a:ext cx="5308600" cy="685800"/>
          </a:xfrm>
          <a:prstGeom prst="roundRect">
            <a:avLst>
              <a:gd name="adj" fmla="val 7407"/>
            </a:avLst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Rectangle 79"/>
          <p:cNvSpPr/>
          <p:nvPr/>
        </p:nvSpPr>
        <p:spPr>
          <a:xfrm>
            <a:off x="6197600" y="5502503"/>
            <a:ext cx="38100" cy="685800"/>
          </a:xfrm>
          <a:prstGeom prst="rect">
            <a:avLst/>
          </a:prstGeom>
          <a:solidFill>
            <a:srgbClr val="C6E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TextBox 80"/>
          <p:cNvSpPr txBox="1"/>
          <p:nvPr/>
        </p:nvSpPr>
        <p:spPr>
          <a:xfrm>
            <a:off x="6350000" y="5573521"/>
            <a:ext cx="5791200" cy="1983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61"/>
              </a:lnSpc>
            </a:pPr>
            <a:r>
              <a:rPr sz="880" b="1" i="0">
                <a:solidFill>
                  <a:srgbClr val="0E0E0E"/>
                </a:solidFill>
                <a:latin typeface="Arial"/>
              </a:rPr>
              <a:t>estado_despacho  (SUMINISTRO)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350000" y="5740247"/>
            <a:ext cx="5791200" cy="184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6"/>
              </a:lnSpc>
            </a:pPr>
            <a:r>
              <a:rPr sz="800" b="0" i="0">
                <a:solidFill>
                  <a:srgbClr val="394147"/>
                </a:solidFill>
                <a:latin typeface="Arial"/>
              </a:rPr>
              <a:t>PROGRAMADO, EN RUTA, ENTREGADO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350000" y="5905754"/>
            <a:ext cx="5791200" cy="1815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29"/>
              </a:lnSpc>
            </a:pPr>
            <a:r>
              <a:rPr sz="780" b="0" i="0">
                <a:solidFill>
                  <a:srgbClr val="5E676E"/>
                </a:solidFill>
                <a:latin typeface="Arial"/>
              </a:rPr>
              <a:t>Suministro 2 = EN RUTA: la carga sale del CD hacia el local.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5800" y="6272428"/>
            <a:ext cx="11455400" cy="1949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35"/>
              </a:lnSpc>
            </a:pPr>
            <a:r>
              <a:rPr sz="860" b="0" i="0">
                <a:solidFill>
                  <a:srgbClr val="333B41"/>
                </a:solidFill>
                <a:latin typeface="Arial"/>
              </a:rPr>
              <a:t>Son dos procesos distintos: el envio al cliente y el traslado del centro de distribucion al local.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685800" y="6451600"/>
            <a:ext cx="10820400" cy="0"/>
          </a:xfrm>
          <a:prstGeom prst="line">
            <a:avLst/>
          </a:prstGeom>
          <a:ln w="10160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685800" y="6537756"/>
            <a:ext cx="11455400" cy="17820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03"/>
              </a:lnSpc>
            </a:pPr>
            <a:r>
              <a:rPr sz="760" b="0" i="0">
                <a:solidFill>
                  <a:srgbClr val="8B949B"/>
                </a:solidFill>
                <a:latin typeface="Arial"/>
              </a:rPr>
              <a:t>Proyecto parcial  |  Disenio de Base de Datos Relacionales  |  Grupo 05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156200" y="6537756"/>
            <a:ext cx="6350000" cy="17820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003"/>
              </a:lnSpc>
            </a:pPr>
            <a:r>
              <a:rPr sz="760" b="0" i="0">
                <a:solidFill>
                  <a:srgbClr val="8B949B"/>
                </a:solidFill>
                <a:latin typeface="Arial"/>
              </a:rPr>
              <a:t>08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DELO_LOGI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352" y="127000"/>
            <a:ext cx="11427294" cy="617219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0E0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85800" y="6510324"/>
            <a:ext cx="11455400" cy="1949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35"/>
              </a:lnSpc>
            </a:pPr>
            <a:r>
              <a:rPr sz="860" b="0" i="0">
                <a:solidFill>
                  <a:srgbClr val="E4E9EC"/>
                </a:solidFill>
                <a:latin typeface="Arial"/>
              </a:rPr>
              <a:t>Atributos: * obligatorio y  -  opcional (telefono_secundario, descripcion y especificaciones).  Sin columnas calculadas.  10 tablas.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8800" y="6510324"/>
            <a:ext cx="1422400" cy="1949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35"/>
              </a:lnSpc>
            </a:pPr>
            <a:r>
              <a:rPr sz="860" b="1" i="0">
                <a:solidFill>
                  <a:srgbClr val="C6E200"/>
                </a:solidFill>
                <a:latin typeface="Arial"/>
              </a:rPr>
              <a:t>CAPITULO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59200" y="6512356"/>
            <a:ext cx="6350000" cy="17820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003"/>
              </a:lnSpc>
            </a:pPr>
            <a:r>
              <a:rPr sz="760" b="0" i="0">
                <a:solidFill>
                  <a:srgbClr val="8B949B"/>
                </a:solidFill>
                <a:latin typeface="Arial"/>
              </a:rPr>
              <a:t>09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DELO_RELAC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359" y="127000"/>
            <a:ext cx="10731280" cy="617219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0E0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85800" y="6510324"/>
            <a:ext cx="11455400" cy="1949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35"/>
              </a:lnSpc>
            </a:pPr>
            <a:r>
              <a:rPr sz="860" b="0" i="0">
                <a:solidFill>
                  <a:srgbClr val="E4E9EC"/>
                </a:solidFill>
                <a:latin typeface="Arial"/>
              </a:rPr>
              <a:t>P = clave primaria simple,  PFK = columna de la clave compuesta que ademas es foranea,  FK = clave foranea (12 en total).  VARCHAR2 y NUMBER son los tipos de Oracle.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8800" y="6510324"/>
            <a:ext cx="1422400" cy="1949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35"/>
              </a:lnSpc>
            </a:pPr>
            <a:r>
              <a:rPr sz="860" b="1" i="0">
                <a:solidFill>
                  <a:srgbClr val="C6E200"/>
                </a:solidFill>
                <a:latin typeface="Arial"/>
              </a:rPr>
              <a:t>CAPITULO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59200" y="6512356"/>
            <a:ext cx="6350000" cy="17820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003"/>
              </a:lnSpc>
            </a:pPr>
            <a:r>
              <a:rPr sz="760" b="0" i="0">
                <a:solidFill>
                  <a:srgbClr val="8B949B"/>
                </a:solidFill>
                <a:latin typeface="Arial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DELO_FISI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359" y="127000"/>
            <a:ext cx="10731280" cy="617219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0E0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85800" y="6510324"/>
            <a:ext cx="11455400" cy="1949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35"/>
              </a:lnSpc>
            </a:pPr>
            <a:r>
              <a:rPr sz="860" b="0" i="0">
                <a:solidFill>
                  <a:srgbClr val="E4E9EC"/>
                </a:solidFill>
                <a:latin typeface="Arial"/>
              </a:rPr>
              <a:t>Base BD_NIKE_INC_F en SQL Server.  INTEGER, VARCHAR(n), DECIMAL(10,2) y DATE.  Solo 3 columnas admiten NULL; las claves y las foraneas nunca.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8800" y="6510324"/>
            <a:ext cx="1422400" cy="1949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35"/>
              </a:lnSpc>
            </a:pPr>
            <a:r>
              <a:rPr sz="860" b="1" i="0">
                <a:solidFill>
                  <a:srgbClr val="C6E200"/>
                </a:solidFill>
                <a:latin typeface="Arial"/>
              </a:rPr>
              <a:t>CAPITULO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59200" y="6512356"/>
            <a:ext cx="6350000" cy="17820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003"/>
              </a:lnSpc>
            </a:pPr>
            <a:r>
              <a:rPr sz="760" b="0" i="0">
                <a:solidFill>
                  <a:srgbClr val="8B949B"/>
                </a:solidFill>
                <a:latin typeface="Arial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d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1200" y="304800"/>
            <a:ext cx="482600" cy="796851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85800" y="508000"/>
            <a:ext cx="787400" cy="215900"/>
          </a:xfrm>
          <a:prstGeom prst="roundRect">
            <a:avLst>
              <a:gd name="adj" fmla="val 50000"/>
            </a:avLst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7400" y="544068"/>
            <a:ext cx="11353800" cy="1932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22"/>
              </a:lnSpc>
            </a:pPr>
            <a:r>
              <a:rPr sz="850" b="1" i="0">
                <a:solidFill>
                  <a:srgbClr val="3A4248"/>
                </a:solidFill>
                <a:latin typeface="Arial"/>
              </a:rPr>
              <a:t>CAPITULO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91464"/>
            <a:ext cx="11455400" cy="3837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22"/>
              </a:lnSpc>
            </a:pPr>
            <a:r>
              <a:rPr sz="2300" b="1" i="0">
                <a:solidFill>
                  <a:srgbClr val="0E0E0E"/>
                </a:solidFill>
                <a:latin typeface="Arial"/>
              </a:rPr>
              <a:t>Longitudes justas y necesarias: por que cada campo mide eso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52474"/>
            <a:ext cx="11455400" cy="386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1000" b="0" i="0">
                <a:solidFill>
                  <a:srgbClr val="333B41"/>
                </a:solidFill>
                <a:latin typeface="Arial"/>
              </a:rPr>
              <a:t>El modelo fisico no usa VARCHAR(255) por costumbre: cada longitud se calculo con el dato real que se va a guardar. Asi el motor reserva solo lo necesario y no se pierde</a:t>
            </a:r>
          </a:p>
          <a:p>
            <a:pPr algn="l">
              <a:lnSpc>
                <a:spcPts val="1320"/>
              </a:lnSpc>
            </a:pPr>
            <a:r>
              <a:rPr sz="1000" b="0" i="0">
                <a:solidFill>
                  <a:srgbClr val="333B41"/>
                </a:solidFill>
                <a:latin typeface="Arial"/>
              </a:rPr>
              <a:t>informacion.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735074"/>
            <a:ext cx="9271000" cy="317500"/>
          </a:xfrm>
          <a:prstGeom prst="rect">
            <a:avLst/>
          </a:prstGeom>
          <a:solidFill>
            <a:srgbClr val="0E0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87400" y="1808226"/>
            <a:ext cx="11353800" cy="2016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8"/>
              </a:lnSpc>
            </a:pPr>
            <a:r>
              <a:rPr sz="900" b="1" i="0">
                <a:solidFill>
                  <a:srgbClr val="FFFFFF"/>
                </a:solidFill>
                <a:latin typeface="Arial"/>
              </a:rPr>
              <a:t>Campo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05200" y="1808226"/>
            <a:ext cx="8636000" cy="2016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8"/>
              </a:lnSpc>
            </a:pPr>
            <a:r>
              <a:rPr sz="900" b="1" i="0">
                <a:solidFill>
                  <a:srgbClr val="FFFFFF"/>
                </a:solidFill>
                <a:latin typeface="Arial"/>
              </a:rPr>
              <a:t>Tipo en SQL Server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03800" y="1808226"/>
            <a:ext cx="7137400" cy="2016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8"/>
              </a:lnSpc>
            </a:pPr>
            <a:r>
              <a:rPr sz="900" b="1" i="0">
                <a:solidFill>
                  <a:srgbClr val="FFFFFF"/>
                </a:solidFill>
                <a:latin typeface="Arial"/>
              </a:rPr>
              <a:t>Por que esa medida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7400" y="2089251"/>
            <a:ext cx="11353800" cy="188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2"/>
              </a:lnSpc>
            </a:pPr>
            <a:r>
              <a:rPr sz="819" b="1" i="0">
                <a:solidFill>
                  <a:srgbClr val="0E0E0E"/>
                </a:solidFill>
                <a:latin typeface="Arial"/>
              </a:rPr>
              <a:t>telefono / telefono_secundario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5200" y="2089251"/>
            <a:ext cx="8636000" cy="188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2"/>
              </a:lnSpc>
            </a:pPr>
            <a:r>
              <a:rPr sz="819" b="0" i="0">
                <a:solidFill>
                  <a:srgbClr val="1B2228"/>
                </a:solidFill>
                <a:latin typeface="Arial"/>
              </a:rPr>
              <a:t>VARCHAR(15)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03800" y="2089251"/>
            <a:ext cx="7137400" cy="188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2"/>
              </a:lnSpc>
            </a:pPr>
            <a:r>
              <a:rPr sz="819" b="0" i="0">
                <a:solidFill>
                  <a:srgbClr val="1B2228"/>
                </a:solidFill>
                <a:latin typeface="Arial"/>
              </a:rPr>
              <a:t>9 digitos en Peru y 15 es el tope internacional (E.164); cubre a un cliente extranjero que compra en el pais.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" y="2344674"/>
            <a:ext cx="9271000" cy="0"/>
          </a:xfrm>
          <a:prstGeom prst="line">
            <a:avLst/>
          </a:prstGeom>
          <a:ln w="8890">
            <a:solidFill>
              <a:srgbClr val="E3E7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685800" y="2344674"/>
            <a:ext cx="9271000" cy="292100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87400" y="2381351"/>
            <a:ext cx="11353800" cy="188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2"/>
              </a:lnSpc>
            </a:pPr>
            <a:r>
              <a:rPr sz="819" b="1" i="0">
                <a:solidFill>
                  <a:srgbClr val="0E0E0E"/>
                </a:solidFill>
                <a:latin typeface="Arial"/>
              </a:rPr>
              <a:t>correo_e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5200" y="2381351"/>
            <a:ext cx="8636000" cy="188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2"/>
              </a:lnSpc>
            </a:pPr>
            <a:r>
              <a:rPr sz="819" b="0" i="0">
                <a:solidFill>
                  <a:srgbClr val="1B2228"/>
                </a:solidFill>
                <a:latin typeface="Arial"/>
              </a:rPr>
              <a:t>VARCHAR(80)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03800" y="2381351"/>
            <a:ext cx="7137400" cy="188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2"/>
              </a:lnSpc>
            </a:pPr>
            <a:r>
              <a:rPr sz="819" b="0" i="0">
                <a:solidFill>
                  <a:srgbClr val="1B2228"/>
                </a:solidFill>
                <a:latin typeface="Arial"/>
              </a:rPr>
              <a:t>un correo real mide entre 25 y 45 caracteres; 80 deja margen sin reservar 255.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85800" y="2636774"/>
            <a:ext cx="9271000" cy="0"/>
          </a:xfrm>
          <a:prstGeom prst="line">
            <a:avLst/>
          </a:prstGeom>
          <a:ln w="8890">
            <a:solidFill>
              <a:srgbClr val="E3E7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87400" y="2673451"/>
            <a:ext cx="11353800" cy="188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2"/>
              </a:lnSpc>
            </a:pPr>
            <a:r>
              <a:rPr sz="819" b="1" i="0">
                <a:solidFill>
                  <a:srgbClr val="0E0E0E"/>
                </a:solidFill>
                <a:latin typeface="Arial"/>
              </a:rPr>
              <a:t>nombre /nombre de producto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05200" y="2673451"/>
            <a:ext cx="8636000" cy="188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2"/>
              </a:lnSpc>
            </a:pPr>
            <a:r>
              <a:rPr sz="819" b="0" i="0">
                <a:solidFill>
                  <a:srgbClr val="1B2228"/>
                </a:solidFill>
                <a:latin typeface="Arial"/>
              </a:rPr>
              <a:t>VARCHAR(80)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03800" y="2673451"/>
            <a:ext cx="7137400" cy="188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2"/>
              </a:lnSpc>
            </a:pPr>
            <a:r>
              <a:rPr sz="819" b="0" i="0">
                <a:solidFill>
                  <a:srgbClr val="1B2228"/>
                </a:solidFill>
                <a:latin typeface="Arial"/>
              </a:rPr>
              <a:t>entran nombres completos y nombres comerciales largos como 'Camiseta Nike Dri-FIT Academy'.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85800" y="2928874"/>
            <a:ext cx="9271000" cy="0"/>
          </a:xfrm>
          <a:prstGeom prst="line">
            <a:avLst/>
          </a:prstGeom>
          <a:ln w="8890">
            <a:solidFill>
              <a:srgbClr val="E3E7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85800" y="2928874"/>
            <a:ext cx="9271000" cy="292100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87400" y="2965551"/>
            <a:ext cx="11353800" cy="188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2"/>
              </a:lnSpc>
            </a:pPr>
            <a:r>
              <a:rPr sz="819" b="1" i="0">
                <a:solidFill>
                  <a:srgbClr val="0E0E0E"/>
                </a:solidFill>
                <a:latin typeface="Arial"/>
              </a:rPr>
              <a:t>direccion / direccion_local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05200" y="2965551"/>
            <a:ext cx="8636000" cy="188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2"/>
              </a:lnSpc>
            </a:pPr>
            <a:r>
              <a:rPr sz="819" b="0" i="0">
                <a:solidFill>
                  <a:srgbClr val="1B2228"/>
                </a:solidFill>
                <a:latin typeface="Arial"/>
              </a:rPr>
              <a:t>VARCHAR(150)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03800" y="2965551"/>
            <a:ext cx="7137400" cy="188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2"/>
              </a:lnSpc>
            </a:pPr>
            <a:r>
              <a:rPr sz="819" b="0" i="0">
                <a:solidFill>
                  <a:srgbClr val="1B2228"/>
                </a:solidFill>
                <a:latin typeface="Arial"/>
              </a:rPr>
              <a:t>una direccion peruana con referencia y distrito llega a 90-120 caracteres.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85800" y="3220974"/>
            <a:ext cx="9271000" cy="0"/>
          </a:xfrm>
          <a:prstGeom prst="line">
            <a:avLst/>
          </a:prstGeom>
          <a:ln w="8890">
            <a:solidFill>
              <a:srgbClr val="E3E7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87400" y="3257651"/>
            <a:ext cx="11353800" cy="32572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2"/>
              </a:lnSpc>
            </a:pPr>
            <a:r>
              <a:rPr sz="819" b="1" i="0">
                <a:solidFill>
                  <a:srgbClr val="0E0E0E"/>
                </a:solidFill>
                <a:latin typeface="Arial"/>
              </a:rPr>
              <a:t>nombre_almacen / nombre_local / nombre de</a:t>
            </a:r>
          </a:p>
          <a:p>
            <a:pPr algn="l">
              <a:lnSpc>
                <a:spcPts val="1082"/>
              </a:lnSpc>
            </a:pPr>
            <a:r>
              <a:rPr sz="819" b="1" i="0">
                <a:solidFill>
                  <a:srgbClr val="0E0E0E"/>
                </a:solidFill>
                <a:latin typeface="Arial"/>
              </a:rPr>
              <a:t>categoria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5200" y="3257651"/>
            <a:ext cx="8636000" cy="188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2"/>
              </a:lnSpc>
            </a:pPr>
            <a:r>
              <a:rPr sz="819" b="0" i="0">
                <a:solidFill>
                  <a:srgbClr val="1B2228"/>
                </a:solidFill>
                <a:latin typeface="Arial"/>
              </a:rPr>
              <a:t>VARCHAR(50)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03800" y="3257651"/>
            <a:ext cx="7137400" cy="188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2"/>
              </a:lnSpc>
            </a:pPr>
            <a:r>
              <a:rPr sz="819" b="0" i="0">
                <a:solidFill>
                  <a:srgbClr val="1B2228"/>
                </a:solidFill>
                <a:latin typeface="Arial"/>
              </a:rPr>
              <a:t>son nombres cortos e institucionales: 'CD Lima Norte', 'Nike Store Jockey Plaza'.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85800" y="3513074"/>
            <a:ext cx="9271000" cy="0"/>
          </a:xfrm>
          <a:prstGeom prst="line">
            <a:avLst/>
          </a:prstGeom>
          <a:ln w="8890">
            <a:solidFill>
              <a:srgbClr val="E3E7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685800" y="3513074"/>
            <a:ext cx="9271000" cy="425399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87400" y="3549751"/>
            <a:ext cx="11353800" cy="32572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2"/>
              </a:lnSpc>
            </a:pPr>
            <a:r>
              <a:rPr sz="819" b="1" i="0">
                <a:solidFill>
                  <a:srgbClr val="0E0E0E"/>
                </a:solidFill>
                <a:latin typeface="Arial"/>
              </a:rPr>
              <a:t>metodo_pago / estado_envio / estado_despacho /</a:t>
            </a:r>
          </a:p>
          <a:p>
            <a:pPr algn="l">
              <a:lnSpc>
                <a:spcPts val="1082"/>
              </a:lnSpc>
            </a:pPr>
            <a:r>
              <a:rPr sz="819" b="1" i="0">
                <a:solidFill>
                  <a:srgbClr val="0E0E0E"/>
                </a:solidFill>
                <a:latin typeface="Arial"/>
              </a:rPr>
              <a:t>estado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05200" y="3549751"/>
            <a:ext cx="8636000" cy="188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2"/>
              </a:lnSpc>
            </a:pPr>
            <a:r>
              <a:rPr sz="819" b="0" i="0">
                <a:solidFill>
                  <a:srgbClr val="1B2228"/>
                </a:solidFill>
                <a:latin typeface="Arial"/>
              </a:rPr>
              <a:t>VARCHAR(20-30)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03800" y="3549751"/>
            <a:ext cx="7137400" cy="188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2"/>
              </a:lnSpc>
            </a:pPr>
            <a:r>
              <a:rPr sz="819" b="0" i="0">
                <a:solidFill>
                  <a:srgbClr val="1B2228"/>
                </a:solidFill>
                <a:latin typeface="Arial"/>
              </a:rPr>
              <a:t>listas cortas y controladas; 20 alcanza para PENDIENTE, ENVIADO o ENTREGADO.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85800" y="3938473"/>
            <a:ext cx="9271000" cy="0"/>
          </a:xfrm>
          <a:prstGeom prst="line">
            <a:avLst/>
          </a:prstGeom>
          <a:ln w="8890">
            <a:solidFill>
              <a:srgbClr val="E3E7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87400" y="3975150"/>
            <a:ext cx="11353800" cy="188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2"/>
              </a:lnSpc>
            </a:pPr>
            <a:r>
              <a:rPr sz="819" b="1" i="0">
                <a:solidFill>
                  <a:srgbClr val="0E0E0E"/>
                </a:solidFill>
                <a:latin typeface="Arial"/>
              </a:rPr>
              <a:t>talla / talla_elegida y color / color_elegido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05200" y="3975150"/>
            <a:ext cx="8636000" cy="32572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2"/>
              </a:lnSpc>
            </a:pPr>
            <a:r>
              <a:rPr sz="819" b="0" i="0">
                <a:solidFill>
                  <a:srgbClr val="1B2228"/>
                </a:solidFill>
                <a:latin typeface="Arial"/>
              </a:rPr>
              <a:t>VARCHAR(10) y</a:t>
            </a:r>
          </a:p>
          <a:p>
            <a:pPr algn="l">
              <a:lnSpc>
                <a:spcPts val="1082"/>
              </a:lnSpc>
            </a:pPr>
            <a:r>
              <a:rPr sz="819" b="0" i="0">
                <a:solidFill>
                  <a:srgbClr val="1B2228"/>
                </a:solidFill>
                <a:latin typeface="Arial"/>
              </a:rPr>
              <a:t>VARCHAR(30)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03800" y="3975150"/>
            <a:ext cx="7137400" cy="188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2"/>
              </a:lnSpc>
            </a:pPr>
            <a:r>
              <a:rPr sz="819" b="0" i="0">
                <a:solidFill>
                  <a:srgbClr val="1B2228"/>
                </a:solidFill>
                <a:latin typeface="Arial"/>
              </a:rPr>
              <a:t>talla guarda 42, 41 o M; color guarda Negro, Blanco o Azul Marino.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85800" y="4363872"/>
            <a:ext cx="9271000" cy="0"/>
          </a:xfrm>
          <a:prstGeom prst="line">
            <a:avLst/>
          </a:prstGeom>
          <a:ln w="8890">
            <a:solidFill>
              <a:srgbClr val="E3E7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685800" y="4363872"/>
            <a:ext cx="9271000" cy="292100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787400" y="4400549"/>
            <a:ext cx="11353800" cy="188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2"/>
              </a:lnSpc>
            </a:pPr>
            <a:r>
              <a:rPr sz="819" b="1" i="0">
                <a:solidFill>
                  <a:srgbClr val="0E0E0E"/>
                </a:solidFill>
                <a:latin typeface="Arial"/>
              </a:rPr>
              <a:t>precio_unitario_base / precio_unitario_aplicado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05200" y="4400549"/>
            <a:ext cx="8636000" cy="188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2"/>
              </a:lnSpc>
            </a:pPr>
            <a:r>
              <a:rPr sz="819" b="0" i="0">
                <a:solidFill>
                  <a:srgbClr val="1B2228"/>
                </a:solidFill>
                <a:latin typeface="Arial"/>
              </a:rPr>
              <a:t>DECIMAL(10,2)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03800" y="4400549"/>
            <a:ext cx="7137400" cy="188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2"/>
              </a:lnSpc>
            </a:pPr>
            <a:r>
              <a:rPr sz="819" b="0" i="0">
                <a:solidFill>
                  <a:srgbClr val="1B2228"/>
                </a:solidFill>
                <a:latin typeface="Arial"/>
              </a:rPr>
              <a:t>8 enteros y 2 decimales: alcanza para millones de soles y evita el redondeo del FLOAT.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85800" y="4655972"/>
            <a:ext cx="9271000" cy="0"/>
          </a:xfrm>
          <a:prstGeom prst="line">
            <a:avLst/>
          </a:prstGeom>
          <a:ln w="8890">
            <a:solidFill>
              <a:srgbClr val="E3E7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787400" y="4692649"/>
            <a:ext cx="11353800" cy="188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2"/>
              </a:lnSpc>
            </a:pPr>
            <a:r>
              <a:rPr sz="819" b="1" i="0">
                <a:solidFill>
                  <a:srgbClr val="0E0E0E"/>
                </a:solidFill>
                <a:latin typeface="Arial"/>
              </a:rPr>
              <a:t>total de la linea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05200" y="4692649"/>
            <a:ext cx="8636000" cy="188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2"/>
              </a:lnSpc>
            </a:pPr>
            <a:r>
              <a:rPr sz="819" b="0" i="0">
                <a:solidFill>
                  <a:srgbClr val="1B2228"/>
                </a:solidFill>
                <a:latin typeface="Arial"/>
              </a:rPr>
              <a:t>no se almacena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03800" y="4692649"/>
            <a:ext cx="7137400" cy="188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2"/>
              </a:lnSpc>
            </a:pPr>
            <a:r>
              <a:rPr sz="819" b="0" i="0">
                <a:solidFill>
                  <a:srgbClr val="1B2228"/>
                </a:solidFill>
                <a:latin typeface="Arial"/>
              </a:rPr>
              <a:t>cantidad x precio_unitario_aplicado: no se almacena, se calcula en la vista.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85800" y="4948072"/>
            <a:ext cx="9271000" cy="0"/>
          </a:xfrm>
          <a:prstGeom prst="line">
            <a:avLst/>
          </a:prstGeom>
          <a:ln w="8890">
            <a:solidFill>
              <a:srgbClr val="E3E7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685800" y="4948072"/>
            <a:ext cx="9271000" cy="292100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787400" y="4984749"/>
            <a:ext cx="11353800" cy="188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2"/>
              </a:lnSpc>
            </a:pPr>
            <a:r>
              <a:rPr sz="819" b="1" i="0">
                <a:solidFill>
                  <a:srgbClr val="0E0E0E"/>
                </a:solidFill>
                <a:latin typeface="Arial"/>
              </a:rPr>
              <a:t>igv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05200" y="4984749"/>
            <a:ext cx="8636000" cy="188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2"/>
              </a:lnSpc>
            </a:pPr>
            <a:r>
              <a:rPr sz="819" b="0" i="0">
                <a:solidFill>
                  <a:srgbClr val="1B2228"/>
                </a:solidFill>
                <a:latin typeface="Arial"/>
              </a:rPr>
              <a:t>no se almacena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03800" y="4984749"/>
            <a:ext cx="7137400" cy="188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2"/>
              </a:lnSpc>
            </a:pPr>
            <a:r>
              <a:rPr sz="819" b="0" i="0">
                <a:solidFill>
                  <a:srgbClr val="1B2228"/>
                </a:solidFill>
                <a:latin typeface="Arial"/>
              </a:rPr>
              <a:t>es el 18 % de la suma de los totales del pedido: se calcula en la vista VW_PEDIDO_TOTALES.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85800" y="5240172"/>
            <a:ext cx="9271000" cy="0"/>
          </a:xfrm>
          <a:prstGeom prst="line">
            <a:avLst/>
          </a:prstGeom>
          <a:ln w="8890">
            <a:solidFill>
              <a:srgbClr val="E3E7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787400" y="5276849"/>
            <a:ext cx="11353800" cy="188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2"/>
              </a:lnSpc>
            </a:pPr>
            <a:r>
              <a:rPr sz="819" b="1" i="0">
                <a:solidFill>
                  <a:srgbClr val="0E0E0E"/>
                </a:solidFill>
                <a:latin typeface="Arial"/>
              </a:rPr>
              <a:t>cantidad, stock_actual, stock_minimo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05200" y="5276849"/>
            <a:ext cx="8636000" cy="188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2"/>
              </a:lnSpc>
            </a:pPr>
            <a:r>
              <a:rPr sz="819" b="0" i="0">
                <a:solidFill>
                  <a:srgbClr val="1B2228"/>
                </a:solidFill>
                <a:latin typeface="Arial"/>
              </a:rPr>
              <a:t>INTEGER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03800" y="5276849"/>
            <a:ext cx="7137400" cy="188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2"/>
              </a:lnSpc>
            </a:pPr>
            <a:r>
              <a:rPr sz="819" b="0" i="0">
                <a:solidFill>
                  <a:srgbClr val="1B2228"/>
                </a:solidFill>
                <a:latin typeface="Arial"/>
              </a:rPr>
              <a:t>son unidades enteras: no necesitan decimales.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685800" y="5532272"/>
            <a:ext cx="9271000" cy="0"/>
          </a:xfrm>
          <a:prstGeom prst="line">
            <a:avLst/>
          </a:prstGeom>
          <a:ln w="8890">
            <a:solidFill>
              <a:srgbClr val="E3E7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685800" y="1735074"/>
            <a:ext cx="9271000" cy="3797198"/>
          </a:xfrm>
          <a:prstGeom prst="rect">
            <a:avLst/>
          </a:prstGeom>
          <a:noFill/>
          <a:ln w="10160">
            <a:solidFill>
              <a:srgbClr val="C9D1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685800" y="5640984"/>
            <a:ext cx="11455400" cy="2016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8"/>
              </a:lnSpc>
            </a:pPr>
            <a:r>
              <a:rPr sz="900" b="0" i="0">
                <a:solidFill>
                  <a:srgbClr val="5E676E"/>
                </a:solidFill>
                <a:latin typeface="Arial"/>
              </a:rPr>
              <a:t>En Oracle los textos se declaran VARCHAR2(n) y los importes NUMBER(10,2); el tamano es el mismo.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685800" y="6451600"/>
            <a:ext cx="10820400" cy="0"/>
          </a:xfrm>
          <a:prstGeom prst="line">
            <a:avLst/>
          </a:prstGeom>
          <a:ln w="10160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685800" y="6537756"/>
            <a:ext cx="11455400" cy="17820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03"/>
              </a:lnSpc>
            </a:pPr>
            <a:r>
              <a:rPr sz="760" b="0" i="0">
                <a:solidFill>
                  <a:srgbClr val="8B949B"/>
                </a:solidFill>
                <a:latin typeface="Arial"/>
              </a:rPr>
              <a:t>Proyecto parcial  |  Disenio de Base de Datos Relacionales  |  Grupo 05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156200" y="6537756"/>
            <a:ext cx="6350000" cy="17820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003"/>
              </a:lnSpc>
            </a:pPr>
            <a:r>
              <a:rPr sz="760" b="0" i="0">
                <a:solidFill>
                  <a:srgbClr val="8B949B"/>
                </a:solidFill>
                <a:latin typeface="Arial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d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1200" y="304800"/>
            <a:ext cx="482600" cy="796851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85800" y="508000"/>
            <a:ext cx="781050" cy="215900"/>
          </a:xfrm>
          <a:prstGeom prst="roundRect">
            <a:avLst>
              <a:gd name="adj" fmla="val 50000"/>
            </a:avLst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7400" y="544068"/>
            <a:ext cx="11353800" cy="1932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22"/>
              </a:lnSpc>
            </a:pPr>
            <a:r>
              <a:rPr sz="850" b="1" i="0">
                <a:solidFill>
                  <a:srgbClr val="3A4248"/>
                </a:solidFill>
                <a:latin typeface="Arial"/>
              </a:rPr>
              <a:t>CAPITULO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91464"/>
            <a:ext cx="11455400" cy="3837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22"/>
              </a:lnSpc>
            </a:pPr>
            <a:r>
              <a:rPr sz="2300" b="1" i="0">
                <a:solidFill>
                  <a:srgbClr val="0E0E0E"/>
                </a:solidFill>
                <a:latin typeface="Arial"/>
              </a:rPr>
              <a:t>Como se marca cada opcion en el modelo logico y relacional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52474"/>
            <a:ext cx="11455400" cy="386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1000" b="0" i="0">
                <a:solidFill>
                  <a:srgbClr val="333B41"/>
                </a:solidFill>
                <a:latin typeface="Arial"/>
              </a:rPr>
              <a:t>En Oracle SQL Developer Data Modeler cada simbolo tiene un origen concreto: no se escriben a mano, se activan en las propiedades del atributo o se generan al dibujar la</a:t>
            </a:r>
          </a:p>
          <a:p>
            <a:pPr algn="l">
              <a:lnSpc>
                <a:spcPts val="1320"/>
              </a:lnSpc>
            </a:pPr>
            <a:r>
              <a:rPr sz="1000" b="0" i="0">
                <a:solidFill>
                  <a:srgbClr val="333B41"/>
                </a:solidFill>
                <a:latin typeface="Arial"/>
              </a:rPr>
              <a:t>relacion.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785874"/>
            <a:ext cx="9271000" cy="317500"/>
          </a:xfrm>
          <a:prstGeom prst="rect">
            <a:avLst/>
          </a:prstGeom>
          <a:solidFill>
            <a:srgbClr val="0E0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87400" y="1859026"/>
            <a:ext cx="11353800" cy="2016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8"/>
              </a:lnSpc>
            </a:pPr>
            <a:r>
              <a:rPr sz="900" b="1" i="0">
                <a:solidFill>
                  <a:srgbClr val="FFFFFF"/>
                </a:solidFill>
                <a:latin typeface="Arial"/>
              </a:rPr>
              <a:t>Marca u opcion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06600" y="1859026"/>
            <a:ext cx="10134600" cy="2016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8"/>
              </a:lnSpc>
            </a:pPr>
            <a:r>
              <a:rPr sz="900" b="1" i="0">
                <a:solidFill>
                  <a:srgbClr val="FFFFFF"/>
                </a:solidFill>
                <a:latin typeface="Arial"/>
              </a:rPr>
              <a:t>Que significa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16600" y="1859026"/>
            <a:ext cx="6324600" cy="2016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8"/>
              </a:lnSpc>
            </a:pPr>
            <a:r>
              <a:rPr sz="900" b="1" i="0">
                <a:solidFill>
                  <a:srgbClr val="FFFFFF"/>
                </a:solidFill>
                <a:latin typeface="Arial"/>
              </a:rPr>
              <a:t>Donde se marca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7400" y="2139238"/>
            <a:ext cx="11353800" cy="1949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35"/>
              </a:lnSpc>
            </a:pPr>
            <a:r>
              <a:rPr sz="860" b="1" i="0">
                <a:solidFill>
                  <a:srgbClr val="0E0E0E"/>
                </a:solidFill>
                <a:latin typeface="Arial"/>
              </a:rPr>
              <a:t>* obligatorio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06600" y="2139238"/>
            <a:ext cx="10134600" cy="1949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35"/>
              </a:lnSpc>
            </a:pPr>
            <a:r>
              <a:rPr sz="860" b="0" i="0">
                <a:solidFill>
                  <a:srgbClr val="1B2228"/>
                </a:solidFill>
                <a:latin typeface="Arial"/>
              </a:rPr>
              <a:t>El atributo no acepta NULL.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16600" y="2139238"/>
            <a:ext cx="6324600" cy="1949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35"/>
              </a:lnSpc>
            </a:pPr>
            <a:r>
              <a:rPr sz="860" b="0" i="0">
                <a:solidFill>
                  <a:srgbClr val="1B2228"/>
                </a:solidFill>
                <a:latin typeface="Arial"/>
              </a:rPr>
              <a:t>Casilla 'Optional' desmarcada en Attributes del atributo.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" y="2458974"/>
            <a:ext cx="9271000" cy="0"/>
          </a:xfrm>
          <a:prstGeom prst="line">
            <a:avLst/>
          </a:prstGeom>
          <a:ln w="8890">
            <a:solidFill>
              <a:srgbClr val="E3E7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685800" y="2458974"/>
            <a:ext cx="9271000" cy="495401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87400" y="2494838"/>
            <a:ext cx="11353800" cy="1949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35"/>
              </a:lnSpc>
            </a:pPr>
            <a:r>
              <a:rPr sz="860" b="1" i="0">
                <a:solidFill>
                  <a:srgbClr val="0E0E0E"/>
                </a:solidFill>
                <a:latin typeface="Arial"/>
              </a:rPr>
              <a:t>o opcional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06600" y="2494838"/>
            <a:ext cx="10134600" cy="3391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35"/>
              </a:lnSpc>
            </a:pPr>
            <a:r>
              <a:rPr sz="860" b="0" i="0">
                <a:solidFill>
                  <a:srgbClr val="1B2228"/>
                </a:solidFill>
                <a:latin typeface="Arial"/>
              </a:rPr>
              <a:t>Acepta NULL: telefono_secundario, descripcion y especificaciones.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16600" y="2494838"/>
            <a:ext cx="6324600" cy="1949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35"/>
              </a:lnSpc>
            </a:pPr>
            <a:r>
              <a:rPr sz="860" b="0" i="0">
                <a:solidFill>
                  <a:srgbClr val="1B2228"/>
                </a:solidFill>
                <a:latin typeface="Arial"/>
              </a:rPr>
              <a:t>Casilla 'Optional' marcada. En el fisico equivale a no poner NOT NULL.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85800" y="2954375"/>
            <a:ext cx="9271000" cy="0"/>
          </a:xfrm>
          <a:prstGeom prst="line">
            <a:avLst/>
          </a:prstGeom>
          <a:ln w="8890">
            <a:solidFill>
              <a:srgbClr val="E3E7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87400" y="2990240"/>
            <a:ext cx="11353800" cy="1949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35"/>
              </a:lnSpc>
            </a:pPr>
            <a:r>
              <a:rPr sz="860" b="1" i="0">
                <a:solidFill>
                  <a:srgbClr val="0E0E0E"/>
                </a:solidFill>
                <a:latin typeface="Arial"/>
              </a:rPr>
              <a:t>P / PK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06600" y="2990240"/>
            <a:ext cx="10134600" cy="1949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35"/>
              </a:lnSpc>
            </a:pPr>
            <a:r>
              <a:rPr sz="860" b="0" i="0">
                <a:solidFill>
                  <a:srgbClr val="1B2228"/>
                </a:solidFill>
                <a:latin typeface="Arial"/>
              </a:rPr>
              <a:t>Identificador principal de la entidad o tabla.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16600" y="2990240"/>
            <a:ext cx="6324600" cy="1949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35"/>
              </a:lnSpc>
            </a:pPr>
            <a:r>
              <a:rPr sz="860" b="0" i="0">
                <a:solidFill>
                  <a:srgbClr val="1B2228"/>
                </a:solidFill>
                <a:latin typeface="Arial"/>
              </a:rPr>
              <a:t>Boton de llave en la columna o identificador marcado como PK.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85800" y="3309975"/>
            <a:ext cx="9271000" cy="0"/>
          </a:xfrm>
          <a:prstGeom prst="line">
            <a:avLst/>
          </a:prstGeom>
          <a:ln w="8890">
            <a:solidFill>
              <a:srgbClr val="E3E7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85800" y="3309975"/>
            <a:ext cx="9271000" cy="355600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87400" y="3345840"/>
            <a:ext cx="11353800" cy="1949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35"/>
              </a:lnSpc>
            </a:pPr>
            <a:r>
              <a:rPr sz="860" b="1" i="0">
                <a:solidFill>
                  <a:srgbClr val="0E0E0E"/>
                </a:solidFill>
                <a:latin typeface="Arial"/>
              </a:rPr>
              <a:t>F / FK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06600" y="3345840"/>
            <a:ext cx="10134600" cy="1949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35"/>
              </a:lnSpc>
            </a:pPr>
            <a:r>
              <a:rPr sz="860" b="0" i="0">
                <a:solidFill>
                  <a:srgbClr val="1B2228"/>
                </a:solidFill>
                <a:latin typeface="Arial"/>
              </a:rPr>
              <a:t>Clave foranea: se genera al crear la relacion 1:N.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16600" y="3345840"/>
            <a:ext cx="6324600" cy="1949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35"/>
              </a:lnSpc>
            </a:pPr>
            <a:r>
              <a:rPr sz="860" b="0" i="0">
                <a:solidFill>
                  <a:srgbClr val="1B2228"/>
                </a:solidFill>
                <a:latin typeface="Arial"/>
              </a:rPr>
              <a:t>Se dibuja la relacion; la columna aparece con el nombre TABLA_id.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85800" y="3665575"/>
            <a:ext cx="9271000" cy="0"/>
          </a:xfrm>
          <a:prstGeom prst="line">
            <a:avLst/>
          </a:prstGeom>
          <a:ln w="8890">
            <a:solidFill>
              <a:srgbClr val="E3E7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87400" y="3701440"/>
            <a:ext cx="11353800" cy="1949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35"/>
              </a:lnSpc>
            </a:pPr>
            <a:r>
              <a:rPr sz="860" b="1" i="0">
                <a:solidFill>
                  <a:srgbClr val="0E0E0E"/>
                </a:solidFill>
                <a:latin typeface="Arial"/>
              </a:rPr>
              <a:t>PFK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06600" y="3701440"/>
            <a:ext cx="10134600" cy="1949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35"/>
              </a:lnSpc>
            </a:pPr>
            <a:r>
              <a:rPr sz="860" b="0" i="0">
                <a:solidFill>
                  <a:srgbClr val="1B2228"/>
                </a:solidFill>
                <a:latin typeface="Arial"/>
              </a:rPr>
              <a:t>Parte de la clave compuesta y a la vez clave foranea.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16600" y="3701440"/>
            <a:ext cx="6324600" cy="3391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35"/>
              </a:lnSpc>
            </a:pPr>
            <a:r>
              <a:rPr sz="860" b="0" i="0">
                <a:solidFill>
                  <a:srgbClr val="1B2228"/>
                </a:solidFill>
                <a:latin typeface="Arial"/>
              </a:rPr>
              <a:t>DETALLE_VENTA (pedido, producto, talla, color), STOCK_ALMACEN (talla, color,</a:t>
            </a:r>
          </a:p>
          <a:p>
            <a:pPr algn="l">
              <a:lnSpc>
                <a:spcPts val="1135"/>
              </a:lnSpc>
            </a:pPr>
            <a:r>
              <a:rPr sz="860" b="0" i="0">
                <a:solidFill>
                  <a:srgbClr val="1B2228"/>
                </a:solidFill>
                <a:latin typeface="Arial"/>
              </a:rPr>
              <a:t>almacen, producto) y DETALLE_SUMINISTRO (suministro, producto).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85800" y="4160977"/>
            <a:ext cx="9271000" cy="0"/>
          </a:xfrm>
          <a:prstGeom prst="line">
            <a:avLst/>
          </a:prstGeom>
          <a:ln w="8890">
            <a:solidFill>
              <a:srgbClr val="E3E7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685800" y="4160977"/>
            <a:ext cx="9271000" cy="495401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87400" y="4196842"/>
            <a:ext cx="11353800" cy="1949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35"/>
              </a:lnSpc>
            </a:pPr>
            <a:r>
              <a:rPr sz="860" b="1" i="0">
                <a:solidFill>
                  <a:srgbClr val="0E0E0E"/>
                </a:solidFill>
                <a:latin typeface="Arial"/>
              </a:rPr>
              <a:t>no se guarda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06600" y="4196842"/>
            <a:ext cx="10134600" cy="1949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35"/>
              </a:lnSpc>
            </a:pPr>
            <a:r>
              <a:rPr sz="860" b="0" i="0">
                <a:solidFill>
                  <a:srgbClr val="1B2228"/>
                </a:solidFill>
                <a:latin typeface="Arial"/>
              </a:rPr>
              <a:t>Ningun valor calculado se guarda en las tablas.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16600" y="4196842"/>
            <a:ext cx="6324600" cy="3391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35"/>
              </a:lnSpc>
            </a:pPr>
            <a:r>
              <a:rPr sz="860" b="0" i="0">
                <a:solidFill>
                  <a:srgbClr val="1B2228"/>
                </a:solidFill>
                <a:latin typeface="Arial"/>
              </a:rPr>
              <a:t>Vista VW_PEDIDO_TOTALES: calcula total, igv y total con IGV.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85800" y="4656378"/>
            <a:ext cx="9271000" cy="0"/>
          </a:xfrm>
          <a:prstGeom prst="line">
            <a:avLst/>
          </a:prstGeom>
          <a:ln w="8890">
            <a:solidFill>
              <a:srgbClr val="E3E7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87400" y="4692243"/>
            <a:ext cx="11353800" cy="3391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35"/>
              </a:lnSpc>
            </a:pPr>
            <a:r>
              <a:rPr sz="860" b="1" i="0">
                <a:solidFill>
                  <a:srgbClr val="0E0E0E"/>
                </a:solidFill>
                <a:latin typeface="Arial"/>
              </a:rPr>
              <a:t>VARCHAR2(n) /</a:t>
            </a:r>
          </a:p>
          <a:p>
            <a:pPr algn="l">
              <a:lnSpc>
                <a:spcPts val="1135"/>
              </a:lnSpc>
            </a:pPr>
            <a:r>
              <a:rPr sz="860" b="1" i="0">
                <a:solidFill>
                  <a:srgbClr val="0E0E0E"/>
                </a:solidFill>
                <a:latin typeface="Arial"/>
              </a:rPr>
              <a:t>NUMBER(10,2)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06600" y="4692243"/>
            <a:ext cx="10134600" cy="1949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35"/>
              </a:lnSpc>
            </a:pPr>
            <a:r>
              <a:rPr sz="860" b="0" i="0">
                <a:solidFill>
                  <a:srgbClr val="1B2228"/>
                </a:solidFill>
                <a:latin typeface="Arial"/>
              </a:rPr>
              <a:t>Texto de n caracteres e importes con 2 decimales.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16600" y="4692243"/>
            <a:ext cx="6324600" cy="1949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35"/>
              </a:lnSpc>
            </a:pPr>
            <a:r>
              <a:rPr sz="860" b="0" i="0">
                <a:solidFill>
                  <a:srgbClr val="1B2228"/>
                </a:solidFill>
                <a:latin typeface="Arial"/>
              </a:rPr>
              <a:t>Propiedad Size y Precision/Scale del atributo; nunca 255 por defecto.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85800" y="5151780"/>
            <a:ext cx="9271000" cy="0"/>
          </a:xfrm>
          <a:prstGeom prst="line">
            <a:avLst/>
          </a:prstGeom>
          <a:ln w="8890">
            <a:solidFill>
              <a:srgbClr val="E3E7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685800" y="1785874"/>
            <a:ext cx="9271000" cy="3365906"/>
          </a:xfrm>
          <a:prstGeom prst="rect">
            <a:avLst/>
          </a:prstGeom>
          <a:noFill/>
          <a:ln w="10160">
            <a:solidFill>
              <a:srgbClr val="C9D1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85800" y="5260492"/>
            <a:ext cx="11455400" cy="2016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8"/>
              </a:lnSpc>
            </a:pPr>
            <a:r>
              <a:rPr sz="900" b="0" i="0">
                <a:solidFill>
                  <a:srgbClr val="5E676E"/>
                </a:solidFill>
                <a:latin typeface="Arial"/>
              </a:rPr>
              <a:t>El modelo fisico hereda estas marcas: '*' se convierte en NOT NULL y 'o' queda como columna que admite NULL.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85800" y="6451600"/>
            <a:ext cx="10820400" cy="0"/>
          </a:xfrm>
          <a:prstGeom prst="line">
            <a:avLst/>
          </a:prstGeom>
          <a:ln w="10160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85800" y="6537756"/>
            <a:ext cx="11455400" cy="17820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03"/>
              </a:lnSpc>
            </a:pPr>
            <a:r>
              <a:rPr sz="760" b="0" i="0">
                <a:solidFill>
                  <a:srgbClr val="8B949B"/>
                </a:solidFill>
                <a:latin typeface="Arial"/>
              </a:rPr>
              <a:t>Proyecto parcial  |  Disenio de Base de Datos Relacionales  |  Grupo 05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56200" y="6537756"/>
            <a:ext cx="6350000" cy="17820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003"/>
              </a:lnSpc>
            </a:pPr>
            <a:r>
              <a:rPr sz="760" b="0" i="0">
                <a:solidFill>
                  <a:srgbClr val="8B949B"/>
                </a:solidFill>
                <a:latin typeface="Arial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d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1200" y="304800"/>
            <a:ext cx="482600" cy="796851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85800" y="508000"/>
            <a:ext cx="787400" cy="215900"/>
          </a:xfrm>
          <a:prstGeom prst="roundRect">
            <a:avLst>
              <a:gd name="adj" fmla="val 50000"/>
            </a:avLst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7400" y="544068"/>
            <a:ext cx="11353800" cy="1932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22"/>
              </a:lnSpc>
            </a:pPr>
            <a:r>
              <a:rPr sz="850" b="1" i="0">
                <a:solidFill>
                  <a:srgbClr val="3A4248"/>
                </a:solidFill>
                <a:latin typeface="Arial"/>
              </a:rPr>
              <a:t>CAPITULO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91464"/>
            <a:ext cx="11455400" cy="3837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22"/>
              </a:lnSpc>
            </a:pPr>
            <a:r>
              <a:rPr sz="2300" b="1" i="0">
                <a:solidFill>
                  <a:srgbClr val="0E0E0E"/>
                </a:solidFill>
                <a:latin typeface="Arial"/>
              </a:rPr>
              <a:t>Diccionario de datos del modelo (10 tablas)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52474"/>
            <a:ext cx="11455400" cy="2184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1000" b="0" i="0">
                <a:solidFill>
                  <a:srgbClr val="333B41"/>
                </a:solidFill>
                <a:latin typeface="Arial"/>
              </a:rPr>
              <a:t>Resumen de las tablas que se entregan en el documento de diccionario de datos, con tipo, longitud, clave, obligatoriedad, regla de negocio y ejemplo real.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592834"/>
            <a:ext cx="9271000" cy="317500"/>
          </a:xfrm>
          <a:prstGeom prst="rect">
            <a:avLst/>
          </a:prstGeom>
          <a:solidFill>
            <a:srgbClr val="0E0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87400" y="1665986"/>
            <a:ext cx="11353800" cy="2016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8"/>
              </a:lnSpc>
            </a:pPr>
            <a:r>
              <a:rPr sz="900" b="1" i="0">
                <a:solidFill>
                  <a:srgbClr val="FFFFFF"/>
                </a:solidFill>
                <a:latin typeface="Arial"/>
              </a:rPr>
              <a:t>Tabla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6800" y="1665986"/>
            <a:ext cx="9804400" cy="2016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8"/>
              </a:lnSpc>
            </a:pPr>
            <a:r>
              <a:rPr sz="900" b="1" i="0">
                <a:solidFill>
                  <a:srgbClr val="FFFFFF"/>
                </a:solidFill>
                <a:latin typeface="Arial"/>
              </a:rPr>
              <a:t>Tipo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665986"/>
            <a:ext cx="8940800" cy="2016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8"/>
              </a:lnSpc>
            </a:pPr>
            <a:r>
              <a:rPr sz="900" b="1" i="0">
                <a:solidFill>
                  <a:srgbClr val="FFFFFF"/>
                </a:solidFill>
                <a:latin typeface="Arial"/>
              </a:rPr>
              <a:t>Clave primaria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67400" y="1665986"/>
            <a:ext cx="6273800" cy="2016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8"/>
              </a:lnSpc>
            </a:pPr>
            <a:r>
              <a:rPr sz="900" b="1" i="0">
                <a:solidFill>
                  <a:srgbClr val="FFFFFF"/>
                </a:solidFill>
                <a:latin typeface="Arial"/>
              </a:rPr>
              <a:t>Proposito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400" y="1946808"/>
            <a:ext cx="11353800" cy="18994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95"/>
              </a:lnSpc>
            </a:pPr>
            <a:r>
              <a:rPr sz="830" b="1" i="0">
                <a:solidFill>
                  <a:srgbClr val="0E0E0E"/>
                </a:solidFill>
                <a:latin typeface="Arial"/>
              </a:rPr>
              <a:t>CLIENTE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6800" y="1946808"/>
            <a:ext cx="9804400" cy="18994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95"/>
              </a:lnSpc>
            </a:pPr>
            <a:r>
              <a:rPr sz="830" b="0" i="0">
                <a:solidFill>
                  <a:srgbClr val="1B2228"/>
                </a:solidFill>
                <a:latin typeface="Arial"/>
              </a:rPr>
              <a:t>Maestra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1946808"/>
            <a:ext cx="8940800" cy="18994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95"/>
              </a:lnSpc>
            </a:pPr>
            <a:r>
              <a:rPr sz="830" b="0" i="0">
                <a:solidFill>
                  <a:srgbClr val="1B2228"/>
                </a:solidFill>
                <a:latin typeface="Arial"/>
              </a:rPr>
              <a:t>id_cliente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67400" y="1946808"/>
            <a:ext cx="6273800" cy="18994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95"/>
              </a:lnSpc>
            </a:pPr>
            <a:r>
              <a:rPr sz="830" b="0" i="0">
                <a:solidFill>
                  <a:srgbClr val="1B2228"/>
                </a:solidFill>
                <a:latin typeface="Arial"/>
              </a:rPr>
              <a:t>Registra al comprador con un telefono principal y uno secundario opcional.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" y="2215134"/>
            <a:ext cx="9271000" cy="0"/>
          </a:xfrm>
          <a:prstGeom prst="line">
            <a:avLst/>
          </a:prstGeom>
          <a:ln w="8890">
            <a:solidFill>
              <a:srgbClr val="E3E7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85800" y="2215134"/>
            <a:ext cx="9271000" cy="439724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87400" y="2251608"/>
            <a:ext cx="11353800" cy="18994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95"/>
              </a:lnSpc>
            </a:pPr>
            <a:r>
              <a:rPr sz="830" b="1" i="0">
                <a:solidFill>
                  <a:srgbClr val="0E0E0E"/>
                </a:solidFill>
                <a:latin typeface="Arial"/>
              </a:rPr>
              <a:t>PEDIDO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6800" y="2251608"/>
            <a:ext cx="9804400" cy="18994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95"/>
              </a:lnSpc>
            </a:pPr>
            <a:r>
              <a:rPr sz="830" b="0" i="0">
                <a:solidFill>
                  <a:srgbClr val="1B2228"/>
                </a:solidFill>
                <a:latin typeface="Arial"/>
              </a:rPr>
              <a:t>Transaccional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2251608"/>
            <a:ext cx="8940800" cy="18994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95"/>
              </a:lnSpc>
            </a:pPr>
            <a:r>
              <a:rPr sz="830" b="0" i="0">
                <a:solidFill>
                  <a:srgbClr val="1B2228"/>
                </a:solidFill>
                <a:latin typeface="Arial"/>
              </a:rPr>
              <a:t>id_pedido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67400" y="2251608"/>
            <a:ext cx="6273800" cy="3290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95"/>
              </a:lnSpc>
            </a:pPr>
            <a:r>
              <a:rPr sz="830" b="0" i="0">
                <a:solidFill>
                  <a:srgbClr val="1B2228"/>
                </a:solidFill>
                <a:latin typeface="Arial"/>
              </a:rPr>
              <a:t>Cabecera de la compra. Sin columna de IGV: se calcula con la vista</a:t>
            </a:r>
          </a:p>
          <a:p>
            <a:pPr algn="l">
              <a:lnSpc>
                <a:spcPts val="1095"/>
              </a:lnSpc>
            </a:pPr>
            <a:r>
              <a:rPr sz="830" b="0" i="0">
                <a:solidFill>
                  <a:srgbClr val="1B2228"/>
                </a:solidFill>
                <a:latin typeface="Arial"/>
              </a:rPr>
              <a:t>VW_PEDIDO_TOTALES.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5800" y="2654858"/>
            <a:ext cx="9271000" cy="0"/>
          </a:xfrm>
          <a:prstGeom prst="line">
            <a:avLst/>
          </a:prstGeom>
          <a:ln w="8890">
            <a:solidFill>
              <a:srgbClr val="E3E7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87400" y="2691333"/>
            <a:ext cx="11353800" cy="18994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95"/>
              </a:lnSpc>
            </a:pPr>
            <a:r>
              <a:rPr sz="830" b="1" i="0">
                <a:solidFill>
                  <a:srgbClr val="0E0E0E"/>
                </a:solidFill>
                <a:latin typeface="Arial"/>
              </a:rPr>
              <a:t>DETALLE_VENTA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6800" y="2691333"/>
            <a:ext cx="9804400" cy="18994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95"/>
              </a:lnSpc>
            </a:pPr>
            <a:r>
              <a:rPr sz="830" b="0" i="0">
                <a:solidFill>
                  <a:srgbClr val="1B2228"/>
                </a:solidFill>
                <a:latin typeface="Arial"/>
              </a:rPr>
              <a:t>Intermedia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2691333"/>
            <a:ext cx="8940800" cy="3290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95"/>
              </a:lnSpc>
            </a:pPr>
            <a:r>
              <a:rPr sz="830" b="0" i="0">
                <a:solidFill>
                  <a:srgbClr val="1B2228"/>
                </a:solidFill>
                <a:latin typeface="Arial"/>
              </a:rPr>
              <a:t>PEDIDO_id_pedido, PRODUCTO_id_producto,</a:t>
            </a:r>
          </a:p>
          <a:p>
            <a:pPr algn="l">
              <a:lnSpc>
                <a:spcPts val="1095"/>
              </a:lnSpc>
            </a:pPr>
            <a:r>
              <a:rPr sz="830" b="0" i="0">
                <a:solidFill>
                  <a:srgbClr val="1B2228"/>
                </a:solidFill>
                <a:latin typeface="Arial"/>
              </a:rPr>
              <a:t>talla_elegida, color_elegido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67400" y="2691333"/>
            <a:ext cx="6273800" cy="3290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95"/>
              </a:lnSpc>
            </a:pPr>
            <a:r>
              <a:rPr sz="830" b="0" i="0">
                <a:solidFill>
                  <a:srgbClr val="1B2228"/>
                </a:solidFill>
                <a:latin typeface="Arial"/>
              </a:rPr>
              <a:t>Resuelve CONTIENE con PK compuesta (pedido, producto, talla, color); guarda de</a:t>
            </a:r>
          </a:p>
          <a:p>
            <a:pPr algn="l">
              <a:lnSpc>
                <a:spcPts val="1095"/>
              </a:lnSpc>
            </a:pPr>
            <a:r>
              <a:rPr sz="830" b="0" i="0">
                <a:solidFill>
                  <a:srgbClr val="1B2228"/>
                </a:solidFill>
                <a:latin typeface="Arial"/>
              </a:rPr>
              <a:t>que almacen salio cada linea.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85800" y="3094583"/>
            <a:ext cx="9271000" cy="0"/>
          </a:xfrm>
          <a:prstGeom prst="line">
            <a:avLst/>
          </a:prstGeom>
          <a:ln w="8890">
            <a:solidFill>
              <a:srgbClr val="E3E7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85800" y="3094583"/>
            <a:ext cx="9271000" cy="304800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87400" y="3131058"/>
            <a:ext cx="11353800" cy="18994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95"/>
              </a:lnSpc>
            </a:pPr>
            <a:r>
              <a:rPr sz="830" b="1" i="0">
                <a:solidFill>
                  <a:srgbClr val="0E0E0E"/>
                </a:solidFill>
                <a:latin typeface="Arial"/>
              </a:rPr>
              <a:t>CATEGORIA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6800" y="3131058"/>
            <a:ext cx="9804400" cy="18994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95"/>
              </a:lnSpc>
            </a:pPr>
            <a:r>
              <a:rPr sz="830" b="0" i="0">
                <a:solidFill>
                  <a:srgbClr val="1B2228"/>
                </a:solidFill>
                <a:latin typeface="Arial"/>
              </a:rPr>
              <a:t>Maestra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3131058"/>
            <a:ext cx="8940800" cy="18994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95"/>
              </a:lnSpc>
            </a:pPr>
            <a:r>
              <a:rPr sz="830" b="0" i="0">
                <a:solidFill>
                  <a:srgbClr val="1B2228"/>
                </a:solidFill>
                <a:latin typeface="Arial"/>
              </a:rPr>
              <a:t>id_categoria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67400" y="3131058"/>
            <a:ext cx="6273800" cy="18994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95"/>
              </a:lnSpc>
            </a:pPr>
            <a:r>
              <a:rPr sz="830" b="0" i="0">
                <a:solidFill>
                  <a:srgbClr val="1B2228"/>
                </a:solidFill>
                <a:latin typeface="Arial"/>
              </a:rPr>
              <a:t>Clasifica los productos. Se extrajo de PRODUCTO al aplicar la 3FN.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85800" y="3399383"/>
            <a:ext cx="9271000" cy="0"/>
          </a:xfrm>
          <a:prstGeom prst="line">
            <a:avLst/>
          </a:prstGeom>
          <a:ln w="8890">
            <a:solidFill>
              <a:srgbClr val="E3E7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87400" y="3435858"/>
            <a:ext cx="11353800" cy="18994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95"/>
              </a:lnSpc>
            </a:pPr>
            <a:r>
              <a:rPr sz="830" b="1" i="0">
                <a:solidFill>
                  <a:srgbClr val="0E0E0E"/>
                </a:solidFill>
                <a:latin typeface="Arial"/>
              </a:rPr>
              <a:t>PRODUCTO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6800" y="3435858"/>
            <a:ext cx="9804400" cy="18994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95"/>
              </a:lnSpc>
            </a:pPr>
            <a:r>
              <a:rPr sz="830" b="0" i="0">
                <a:solidFill>
                  <a:srgbClr val="1B2228"/>
                </a:solidFill>
                <a:latin typeface="Arial"/>
              </a:rPr>
              <a:t>Maestra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3435858"/>
            <a:ext cx="8940800" cy="18994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95"/>
              </a:lnSpc>
            </a:pPr>
            <a:r>
              <a:rPr sz="830" b="0" i="0">
                <a:solidFill>
                  <a:srgbClr val="1B2228"/>
                </a:solidFill>
                <a:latin typeface="Arial"/>
              </a:rPr>
              <a:t>id_producto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67400" y="3435858"/>
            <a:ext cx="6273800" cy="18994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95"/>
              </a:lnSpc>
            </a:pPr>
            <a:r>
              <a:rPr sz="830" b="0" i="0">
                <a:solidFill>
                  <a:srgbClr val="1B2228"/>
                </a:solidFill>
                <a:latin typeface="Arial"/>
              </a:rPr>
              <a:t>Catalogo de modelos. Una fila por modelo, sin repetir talla, color ni stock.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85800" y="3704183"/>
            <a:ext cx="9271000" cy="0"/>
          </a:xfrm>
          <a:prstGeom prst="line">
            <a:avLst/>
          </a:prstGeom>
          <a:ln w="8890">
            <a:solidFill>
              <a:srgbClr val="E3E7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685800" y="3704183"/>
            <a:ext cx="9271000" cy="304800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87400" y="3740658"/>
            <a:ext cx="11353800" cy="18994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95"/>
              </a:lnSpc>
            </a:pPr>
            <a:r>
              <a:rPr sz="830" b="1" i="0">
                <a:solidFill>
                  <a:srgbClr val="0E0E0E"/>
                </a:solidFill>
                <a:latin typeface="Arial"/>
              </a:rPr>
              <a:t>ALMACEN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36800" y="3740658"/>
            <a:ext cx="9804400" cy="18994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95"/>
              </a:lnSpc>
            </a:pPr>
            <a:r>
              <a:rPr sz="830" b="0" i="0">
                <a:solidFill>
                  <a:srgbClr val="1B2228"/>
                </a:solidFill>
                <a:latin typeface="Arial"/>
              </a:rPr>
              <a:t>Maestra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0" y="3740658"/>
            <a:ext cx="8940800" cy="18994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95"/>
              </a:lnSpc>
            </a:pPr>
            <a:r>
              <a:rPr sz="830" b="0" i="0">
                <a:solidFill>
                  <a:srgbClr val="1B2228"/>
                </a:solidFill>
                <a:latin typeface="Arial"/>
              </a:rPr>
              <a:t>id_almacen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67400" y="3740658"/>
            <a:ext cx="6273800" cy="18994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95"/>
              </a:lnSpc>
            </a:pPr>
            <a:r>
              <a:rPr sz="830" b="0" i="0">
                <a:solidFill>
                  <a:srgbClr val="1B2228"/>
                </a:solidFill>
                <a:latin typeface="Arial"/>
              </a:rPr>
              <a:t>Centros de distribucion que guardan el stock y abastecen a los locales.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85800" y="4008983"/>
            <a:ext cx="9271000" cy="0"/>
          </a:xfrm>
          <a:prstGeom prst="line">
            <a:avLst/>
          </a:prstGeom>
          <a:ln w="8890">
            <a:solidFill>
              <a:srgbClr val="E3E7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787400" y="4045458"/>
            <a:ext cx="11353800" cy="18994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95"/>
              </a:lnSpc>
            </a:pPr>
            <a:r>
              <a:rPr sz="830" b="1" i="0">
                <a:solidFill>
                  <a:srgbClr val="0E0E0E"/>
                </a:solidFill>
                <a:latin typeface="Arial"/>
              </a:rPr>
              <a:t>STOCK_ALMACEN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36800" y="4045458"/>
            <a:ext cx="9804400" cy="18994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95"/>
              </a:lnSpc>
            </a:pPr>
            <a:r>
              <a:rPr sz="830" b="0" i="0">
                <a:solidFill>
                  <a:srgbClr val="1B2228"/>
                </a:solidFill>
                <a:latin typeface="Arial"/>
              </a:rPr>
              <a:t>Intermedia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00400" y="4045458"/>
            <a:ext cx="8940800" cy="3290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95"/>
              </a:lnSpc>
            </a:pPr>
            <a:r>
              <a:rPr sz="830" b="0" i="0">
                <a:solidFill>
                  <a:srgbClr val="1B2228"/>
                </a:solidFill>
                <a:latin typeface="Arial"/>
              </a:rPr>
              <a:t>talla, color, ALMACEN_id_almacen,</a:t>
            </a:r>
          </a:p>
          <a:p>
            <a:pPr algn="l">
              <a:lnSpc>
                <a:spcPts val="1095"/>
              </a:lnSpc>
            </a:pPr>
            <a:r>
              <a:rPr sz="830" b="0" i="0">
                <a:solidFill>
                  <a:srgbClr val="1B2228"/>
                </a:solidFill>
                <a:latin typeface="Arial"/>
              </a:rPr>
              <a:t>PRODUCTO_id_producto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67400" y="4045458"/>
            <a:ext cx="6273800" cy="3290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95"/>
              </a:lnSpc>
            </a:pPr>
            <a:r>
              <a:rPr sz="830" b="0" i="0">
                <a:solidFill>
                  <a:srgbClr val="1B2228"/>
                </a:solidFill>
                <a:latin typeface="Arial"/>
              </a:rPr>
              <a:t>Existencias por producto, almacen, talla y color. Su PK de 4 campos fue</a:t>
            </a:r>
          </a:p>
          <a:p>
            <a:pPr algn="l">
              <a:lnSpc>
                <a:spcPts val="1095"/>
              </a:lnSpc>
            </a:pPr>
            <a:r>
              <a:rPr sz="830" b="0" i="0">
                <a:solidFill>
                  <a:srgbClr val="1B2228"/>
                </a:solidFill>
                <a:latin typeface="Arial"/>
              </a:rPr>
              <a:t>confirmada por el docente.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85800" y="4448708"/>
            <a:ext cx="9271000" cy="0"/>
          </a:xfrm>
          <a:prstGeom prst="line">
            <a:avLst/>
          </a:prstGeom>
          <a:ln w="8890">
            <a:solidFill>
              <a:srgbClr val="E3E7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685800" y="4448708"/>
            <a:ext cx="9271000" cy="304800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787400" y="4485182"/>
            <a:ext cx="11353800" cy="18994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95"/>
              </a:lnSpc>
            </a:pPr>
            <a:r>
              <a:rPr sz="830" b="1" i="0">
                <a:solidFill>
                  <a:srgbClr val="0E0E0E"/>
                </a:solidFill>
                <a:latin typeface="Arial"/>
              </a:rPr>
              <a:t>LOCAL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336800" y="4485182"/>
            <a:ext cx="9804400" cy="18994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95"/>
              </a:lnSpc>
            </a:pPr>
            <a:r>
              <a:rPr sz="830" b="0" i="0">
                <a:solidFill>
                  <a:srgbClr val="1B2228"/>
                </a:solidFill>
                <a:latin typeface="Arial"/>
              </a:rPr>
              <a:t>Maestra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00400" y="4485182"/>
            <a:ext cx="8940800" cy="18994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95"/>
              </a:lnSpc>
            </a:pPr>
            <a:r>
              <a:rPr sz="830" b="0" i="0">
                <a:solidFill>
                  <a:srgbClr val="1B2228"/>
                </a:solidFill>
                <a:latin typeface="Arial"/>
              </a:rPr>
              <a:t>id_local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67400" y="4485182"/>
            <a:ext cx="6273800" cy="18994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95"/>
              </a:lnSpc>
            </a:pPr>
            <a:r>
              <a:rPr sz="830" b="0" i="0">
                <a:solidFill>
                  <a:srgbClr val="1B2228"/>
                </a:solidFill>
                <a:latin typeface="Arial"/>
              </a:rPr>
              <a:t>Tiendas fisicas que reciben mercaderia desde los centros de distribucion.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85800" y="4753508"/>
            <a:ext cx="9271000" cy="0"/>
          </a:xfrm>
          <a:prstGeom prst="line">
            <a:avLst/>
          </a:prstGeom>
          <a:ln w="8890">
            <a:solidFill>
              <a:srgbClr val="E3E7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787400" y="4789982"/>
            <a:ext cx="11353800" cy="18994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95"/>
              </a:lnSpc>
            </a:pPr>
            <a:r>
              <a:rPr sz="830" b="1" i="0">
                <a:solidFill>
                  <a:srgbClr val="0E0E0E"/>
                </a:solidFill>
                <a:latin typeface="Arial"/>
              </a:rPr>
              <a:t>SUMINISTRO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36800" y="4789982"/>
            <a:ext cx="9804400" cy="18994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95"/>
              </a:lnSpc>
            </a:pPr>
            <a:r>
              <a:rPr sz="830" b="0" i="0">
                <a:solidFill>
                  <a:srgbClr val="1B2228"/>
                </a:solidFill>
                <a:latin typeface="Arial"/>
              </a:rPr>
              <a:t>Transaccional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00400" y="4789982"/>
            <a:ext cx="8940800" cy="18994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95"/>
              </a:lnSpc>
            </a:pPr>
            <a:r>
              <a:rPr sz="830" b="0" i="0">
                <a:solidFill>
                  <a:srgbClr val="1B2228"/>
                </a:solidFill>
                <a:latin typeface="Arial"/>
              </a:rPr>
              <a:t>id_suministro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67400" y="4789982"/>
            <a:ext cx="6273800" cy="3290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95"/>
              </a:lnSpc>
            </a:pPr>
            <a:r>
              <a:rPr sz="830" b="0" i="0">
                <a:solidFill>
                  <a:srgbClr val="1B2228"/>
                </a:solidFill>
                <a:latin typeface="Arial"/>
              </a:rPr>
              <a:t>Cabecera del abastecimiento CD -&gt; local. Antes la fecha era la PK y no permitia</a:t>
            </a:r>
          </a:p>
          <a:p>
            <a:pPr algn="l">
              <a:lnSpc>
                <a:spcPts val="1095"/>
              </a:lnSpc>
            </a:pPr>
            <a:r>
              <a:rPr sz="830" b="0" i="0">
                <a:solidFill>
                  <a:srgbClr val="1B2228"/>
                </a:solidFill>
                <a:latin typeface="Arial"/>
              </a:rPr>
              <a:t>dos despachos el mismo dia.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685800" y="5193233"/>
            <a:ext cx="9271000" cy="0"/>
          </a:xfrm>
          <a:prstGeom prst="line">
            <a:avLst/>
          </a:prstGeom>
          <a:ln w="8890">
            <a:solidFill>
              <a:srgbClr val="E3E7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685800" y="5193233"/>
            <a:ext cx="9271000" cy="439724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787400" y="5229707"/>
            <a:ext cx="11353800" cy="18994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95"/>
              </a:lnSpc>
            </a:pPr>
            <a:r>
              <a:rPr sz="830" b="1" i="0">
                <a:solidFill>
                  <a:srgbClr val="0E0E0E"/>
                </a:solidFill>
                <a:latin typeface="Arial"/>
              </a:rPr>
              <a:t>DETALLE_SUMINISTRO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336800" y="5229707"/>
            <a:ext cx="9804400" cy="18994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95"/>
              </a:lnSpc>
            </a:pPr>
            <a:r>
              <a:rPr sz="830" b="0" i="0">
                <a:solidFill>
                  <a:srgbClr val="1B2228"/>
                </a:solidFill>
                <a:latin typeface="Arial"/>
              </a:rPr>
              <a:t>Intermedia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200400" y="5229707"/>
            <a:ext cx="8940800" cy="3290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95"/>
              </a:lnSpc>
            </a:pPr>
            <a:r>
              <a:rPr sz="830" b="0" i="0">
                <a:solidFill>
                  <a:srgbClr val="1B2228"/>
                </a:solidFill>
                <a:latin typeface="Arial"/>
              </a:rPr>
              <a:t>suministro, producto, talla, color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867400" y="5229707"/>
            <a:ext cx="6273800" cy="3290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95"/>
              </a:lnSpc>
            </a:pPr>
            <a:r>
              <a:rPr sz="830" b="0" i="0">
                <a:solidFill>
                  <a:srgbClr val="1B2228"/>
                </a:solidFill>
                <a:latin typeface="Arial"/>
              </a:rPr>
              <a:t>Detalle de productos y cantidades de cada suministro (tabla nueva pedida por el</a:t>
            </a:r>
          </a:p>
          <a:p>
            <a:pPr algn="l">
              <a:lnSpc>
                <a:spcPts val="1095"/>
              </a:lnSpc>
            </a:pPr>
            <a:r>
              <a:rPr sz="830" b="0" i="0">
                <a:solidFill>
                  <a:srgbClr val="1B2228"/>
                </a:solidFill>
                <a:latin typeface="Arial"/>
              </a:rPr>
              <a:t>docente).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685800" y="5632958"/>
            <a:ext cx="9271000" cy="0"/>
          </a:xfrm>
          <a:prstGeom prst="line">
            <a:avLst/>
          </a:prstGeom>
          <a:ln w="8890">
            <a:solidFill>
              <a:srgbClr val="E3E7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ectangle 66"/>
          <p:cNvSpPr/>
          <p:nvPr/>
        </p:nvSpPr>
        <p:spPr>
          <a:xfrm>
            <a:off x="685800" y="1592834"/>
            <a:ext cx="9271000" cy="4040124"/>
          </a:xfrm>
          <a:prstGeom prst="rect">
            <a:avLst/>
          </a:prstGeom>
          <a:noFill/>
          <a:ln w="10160">
            <a:solidFill>
              <a:srgbClr val="C9D1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685800" y="5729376"/>
            <a:ext cx="11455400" cy="1983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61"/>
              </a:lnSpc>
            </a:pPr>
            <a:r>
              <a:rPr sz="880" b="0" i="0">
                <a:solidFill>
                  <a:srgbClr val="5E676E"/>
                </a:solidFill>
                <a:latin typeface="Arial"/>
              </a:rPr>
              <a:t>Documento completo: DICCIONARIO_DE_DATOS_NIKE_GRUPO_5.docx | 12 claves foraneas documentadas en el catalogo de integridad.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685800" y="6451600"/>
            <a:ext cx="10820400" cy="0"/>
          </a:xfrm>
          <a:prstGeom prst="line">
            <a:avLst/>
          </a:prstGeom>
          <a:ln w="10160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685800" y="6537756"/>
            <a:ext cx="11455400" cy="17820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03"/>
              </a:lnSpc>
            </a:pPr>
            <a:r>
              <a:rPr sz="760" b="0" i="0">
                <a:solidFill>
                  <a:srgbClr val="8B949B"/>
                </a:solidFill>
                <a:latin typeface="Arial"/>
              </a:rPr>
              <a:t>Proyecto parcial  |  Disenio de Base de Datos Relacionales  |  Grupo 05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156200" y="6537756"/>
            <a:ext cx="6350000" cy="17820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003"/>
              </a:lnSpc>
            </a:pPr>
            <a:r>
              <a:rPr sz="760" b="0" i="0">
                <a:solidFill>
                  <a:srgbClr val="8B949B"/>
                </a:solidFill>
                <a:latin typeface="Arial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d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1200" y="304800"/>
            <a:ext cx="482600" cy="796851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85800" y="508000"/>
            <a:ext cx="787400" cy="215900"/>
          </a:xfrm>
          <a:prstGeom prst="roundRect">
            <a:avLst>
              <a:gd name="adj" fmla="val 50000"/>
            </a:avLst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7400" y="544068"/>
            <a:ext cx="11353800" cy="1932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22"/>
              </a:lnSpc>
            </a:pPr>
            <a:r>
              <a:rPr sz="850" b="1" i="0">
                <a:solidFill>
                  <a:srgbClr val="3A4248"/>
                </a:solidFill>
                <a:latin typeface="Arial"/>
              </a:rPr>
              <a:t>CAPITULO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91464"/>
            <a:ext cx="11455400" cy="3837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22"/>
              </a:lnSpc>
            </a:pPr>
            <a:r>
              <a:rPr sz="2300" b="1" i="0">
                <a:solidFill>
                  <a:srgbClr val="0E0E0E"/>
                </a:solidFill>
                <a:latin typeface="Arial"/>
              </a:rPr>
              <a:t>Complicaciones que encontramos y como las resolvimos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52474"/>
            <a:ext cx="11455400" cy="2184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1000" b="0" i="0">
                <a:solidFill>
                  <a:srgbClr val="333B41"/>
                </a:solidFill>
                <a:latin typeface="Arial"/>
              </a:rPr>
              <a:t>Estas fueron las decisiones donde el grupo tuvo que volver atras, comparar alternativas y corregir el modelo.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3634"/>
            <a:ext cx="5130800" cy="1117600"/>
          </a:xfrm>
          <a:prstGeom prst="roundRect">
            <a:avLst>
              <a:gd name="adj" fmla="val 4545"/>
            </a:avLst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85800" y="1643634"/>
            <a:ext cx="38100" cy="1117600"/>
          </a:xfrm>
          <a:prstGeom prst="rect">
            <a:avLst/>
          </a:prstGeom>
          <a:solidFill>
            <a:srgbClr val="C6E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38200" y="1735988"/>
            <a:ext cx="11303000" cy="23185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5"/>
              </a:lnSpc>
            </a:pPr>
            <a:r>
              <a:rPr sz="1080" b="1" i="0">
                <a:solidFill>
                  <a:srgbClr val="0E0E0E"/>
                </a:solidFill>
                <a:latin typeface="Arial"/>
              </a:rPr>
              <a:t>Crecimiento de PRODUCTO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955952"/>
            <a:ext cx="11303000" cy="34584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61"/>
              </a:lnSpc>
            </a:pPr>
            <a:r>
              <a:rPr sz="880" b="0" i="0">
                <a:solidFill>
                  <a:srgbClr val="394147"/>
                </a:solidFill>
                <a:latin typeface="Arial"/>
              </a:rPr>
              <a:t>Si se registraba cada par fisico como producto, la tabla crecia sin control. Se separo el stock</a:t>
            </a:r>
          </a:p>
          <a:p>
            <a:pPr algn="l">
              <a:lnSpc>
                <a:spcPts val="1161"/>
              </a:lnSpc>
            </a:pPr>
            <a:r>
              <a:rPr sz="880" b="0" i="0">
                <a:solidFill>
                  <a:srgbClr val="394147"/>
                </a:solidFill>
                <a:latin typeface="Arial"/>
              </a:rPr>
              <a:t>por talla y color en STOCK_ALMACEN y PRODUCTO quedo solo con el modelo comercial.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490571"/>
            <a:ext cx="11303000" cy="188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2"/>
              </a:lnSpc>
            </a:pPr>
            <a:r>
              <a:rPr sz="819" b="1" i="0">
                <a:solidFill>
                  <a:srgbClr val="4A5258"/>
                </a:solidFill>
                <a:latin typeface="Arial"/>
              </a:rPr>
              <a:t>Antes: una fila por cada par.  Despues: una fila por modelo.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70600" y="1643634"/>
            <a:ext cx="5130800" cy="1117600"/>
          </a:xfrm>
          <a:prstGeom prst="roundRect">
            <a:avLst>
              <a:gd name="adj" fmla="val 4545"/>
            </a:avLst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070600" y="1643634"/>
            <a:ext cx="38100" cy="1117600"/>
          </a:xfrm>
          <a:prstGeom prst="rect">
            <a:avLst/>
          </a:prstGeom>
          <a:solidFill>
            <a:srgbClr val="C6E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23000" y="1735988"/>
            <a:ext cx="5918200" cy="23185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5"/>
              </a:lnSpc>
            </a:pPr>
            <a:r>
              <a:rPr sz="1080" b="1" i="0">
                <a:solidFill>
                  <a:srgbClr val="0E0E0E"/>
                </a:solidFill>
                <a:latin typeface="Arial"/>
              </a:rPr>
              <a:t>El total y el IGV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3000" y="1955952"/>
            <a:ext cx="5918200" cy="4933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61"/>
              </a:lnSpc>
            </a:pPr>
            <a:r>
              <a:rPr sz="880" b="0" i="0">
                <a:solidFill>
                  <a:srgbClr val="394147"/>
                </a:solidFill>
                <a:latin typeface="Arial"/>
              </a:rPr>
              <a:t>El total se calcula (cantidad x precio) y el IGV es el 18 % de la suma: guardarlos era</a:t>
            </a:r>
          </a:p>
          <a:p>
            <a:pPr algn="l">
              <a:lnSpc>
                <a:spcPts val="1161"/>
              </a:lnSpc>
            </a:pPr>
            <a:r>
              <a:rPr sz="880" b="0" i="0">
                <a:solidFill>
                  <a:srgbClr val="394147"/>
                </a:solidFill>
                <a:latin typeface="Arial"/>
              </a:rPr>
              <a:t>redundante. Se eliminaron las dos columnas y se obtienen de la vista</a:t>
            </a:r>
          </a:p>
          <a:p>
            <a:pPr algn="l">
              <a:lnSpc>
                <a:spcPts val="1161"/>
              </a:lnSpc>
            </a:pPr>
            <a:r>
              <a:rPr sz="880" b="0" i="0">
                <a:solidFill>
                  <a:srgbClr val="394147"/>
                </a:solidFill>
                <a:latin typeface="Arial"/>
              </a:rPr>
              <a:t>VW_PEDIDO_TOTALES.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3000" y="2490571"/>
            <a:ext cx="5918200" cy="188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2"/>
              </a:lnSpc>
            </a:pPr>
            <a:r>
              <a:rPr sz="819" b="1" i="0">
                <a:solidFill>
                  <a:srgbClr val="4A5258"/>
                </a:solidFill>
                <a:latin typeface="Arial"/>
              </a:rPr>
              <a:t>Antes: total e igv digitados.  Despues: fuera de las tablas.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913634"/>
            <a:ext cx="5130800" cy="1117600"/>
          </a:xfrm>
          <a:prstGeom prst="roundRect">
            <a:avLst>
              <a:gd name="adj" fmla="val 4545"/>
            </a:avLst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85800" y="2913634"/>
            <a:ext cx="38100" cy="1117600"/>
          </a:xfrm>
          <a:prstGeom prst="rect">
            <a:avLst/>
          </a:prstGeom>
          <a:solidFill>
            <a:srgbClr val="C6E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38200" y="3005988"/>
            <a:ext cx="11303000" cy="23185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5"/>
              </a:lnSpc>
            </a:pPr>
            <a:r>
              <a:rPr sz="1080" b="1" i="0">
                <a:solidFill>
                  <a:srgbClr val="0E0E0E"/>
                </a:solidFill>
                <a:latin typeface="Arial"/>
              </a:rPr>
              <a:t>Dos telefonos por cliente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3225952"/>
            <a:ext cx="11303000" cy="34584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61"/>
              </a:lnSpc>
            </a:pPr>
            <a:r>
              <a:rPr sz="880" b="0" i="0">
                <a:solidFill>
                  <a:srgbClr val="394147"/>
                </a:solidFill>
                <a:latin typeface="Arial"/>
              </a:rPr>
              <a:t>Una sola columna con dos numeros rompia la 1FN. Se creo telefono obligatorio y</a:t>
            </a:r>
          </a:p>
          <a:p>
            <a:pPr algn="l">
              <a:lnSpc>
                <a:spcPts val="1161"/>
              </a:lnSpc>
            </a:pPr>
            <a:r>
              <a:rPr sz="880" b="0" i="0">
                <a:solidFill>
                  <a:srgbClr val="394147"/>
                </a:solidFill>
                <a:latin typeface="Arial"/>
              </a:rPr>
              <a:t>telefono_secundario opcional, ambos VARCHAR(15).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200" y="3760571"/>
            <a:ext cx="11303000" cy="188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2"/>
              </a:lnSpc>
            </a:pPr>
            <a:r>
              <a:rPr sz="819" b="1" i="0">
                <a:solidFill>
                  <a:srgbClr val="4A5258"/>
                </a:solidFill>
                <a:latin typeface="Arial"/>
              </a:rPr>
              <a:t>Antes: '987654321, 945112233' en una celda.  Despues: dos columnas.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70600" y="2913634"/>
            <a:ext cx="5130800" cy="1117600"/>
          </a:xfrm>
          <a:prstGeom prst="roundRect">
            <a:avLst>
              <a:gd name="adj" fmla="val 4545"/>
            </a:avLst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070600" y="2913634"/>
            <a:ext cx="38100" cy="1117600"/>
          </a:xfrm>
          <a:prstGeom prst="rect">
            <a:avLst/>
          </a:prstGeom>
          <a:solidFill>
            <a:srgbClr val="C6E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223000" y="3005988"/>
            <a:ext cx="5918200" cy="23185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5"/>
              </a:lnSpc>
            </a:pPr>
            <a:r>
              <a:rPr sz="1080" b="1" i="0">
                <a:solidFill>
                  <a:srgbClr val="0E0E0E"/>
                </a:solidFill>
                <a:latin typeface="Arial"/>
              </a:rPr>
              <a:t>N:M en el MER de Chen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23000" y="3225952"/>
            <a:ext cx="5918200" cy="34584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61"/>
              </a:lnSpc>
            </a:pPr>
            <a:r>
              <a:rPr sz="880" b="0" i="0">
                <a:solidFill>
                  <a:srgbClr val="394147"/>
                </a:solidFill>
                <a:latin typeface="Arial"/>
              </a:rPr>
              <a:t>CONTIENE se dibujo como rombo entre PEDIDO y PRODUCTO; en el modelo logico se</a:t>
            </a:r>
          </a:p>
          <a:p>
            <a:pPr algn="l">
              <a:lnSpc>
                <a:spcPts val="1161"/>
              </a:lnSpc>
            </a:pPr>
            <a:r>
              <a:rPr sz="880" b="0" i="0">
                <a:solidFill>
                  <a:srgbClr val="394147"/>
                </a:solidFill>
                <a:latin typeface="Arial"/>
              </a:rPr>
              <a:t>convirtio en la entidad DETALLE_VENTA.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23000" y="3760571"/>
            <a:ext cx="5918200" cy="188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2"/>
              </a:lnSpc>
            </a:pPr>
            <a:r>
              <a:rPr sz="819" b="1" i="0">
                <a:solidFill>
                  <a:srgbClr val="4A5258"/>
                </a:solidFill>
                <a:latin typeface="Arial"/>
              </a:rPr>
              <a:t>Antes: entidad suelta.  Despues: rombo y luego tabla intermedia.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4183634"/>
            <a:ext cx="5130800" cy="1117600"/>
          </a:xfrm>
          <a:prstGeom prst="roundRect">
            <a:avLst>
              <a:gd name="adj" fmla="val 4545"/>
            </a:avLst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685800" y="4183634"/>
            <a:ext cx="38100" cy="1117600"/>
          </a:xfrm>
          <a:prstGeom prst="rect">
            <a:avLst/>
          </a:prstGeom>
          <a:solidFill>
            <a:srgbClr val="C6E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38200" y="4275988"/>
            <a:ext cx="11303000" cy="23185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5"/>
              </a:lnSpc>
            </a:pPr>
            <a:r>
              <a:rPr sz="1080" b="1" i="0">
                <a:solidFill>
                  <a:srgbClr val="0E0E0E"/>
                </a:solidFill>
                <a:latin typeface="Arial"/>
              </a:rPr>
              <a:t>Tipos exportados de Oracle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4495952"/>
            <a:ext cx="11303000" cy="34584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61"/>
              </a:lnSpc>
            </a:pPr>
            <a:r>
              <a:rPr sz="880" b="0" i="0">
                <a:solidFill>
                  <a:srgbClr val="394147"/>
                </a:solidFill>
                <a:latin typeface="Arial"/>
              </a:rPr>
              <a:t>Data Modeler genero VARCHAR2, NUMBER y longitudes de 255. Se ajustaron a VARCHAR,</a:t>
            </a:r>
          </a:p>
          <a:p>
            <a:pPr algn="l">
              <a:lnSpc>
                <a:spcPts val="1161"/>
              </a:lnSpc>
            </a:pPr>
            <a:r>
              <a:rPr sz="880" b="0" i="0">
                <a:solidFill>
                  <a:srgbClr val="394147"/>
                </a:solidFill>
                <a:latin typeface="Arial"/>
              </a:rPr>
              <a:t>DECIMAL(10,2) y tamanios justos antes de ejecutar en SQL Server.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5030571"/>
            <a:ext cx="11303000" cy="188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2"/>
              </a:lnSpc>
            </a:pPr>
            <a:r>
              <a:rPr sz="819" b="1" i="0">
                <a:solidFill>
                  <a:srgbClr val="4A5258"/>
                </a:solidFill>
                <a:latin typeface="Arial"/>
              </a:rPr>
              <a:t>Antes: VARCHAR2(255) y NUMBER.  Despues: VARCHAR(n) y DECIMAL(10,2).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70600" y="4183634"/>
            <a:ext cx="5130800" cy="1117600"/>
          </a:xfrm>
          <a:prstGeom prst="roundRect">
            <a:avLst>
              <a:gd name="adj" fmla="val 4545"/>
            </a:avLst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6070600" y="4183634"/>
            <a:ext cx="38100" cy="1117600"/>
          </a:xfrm>
          <a:prstGeom prst="rect">
            <a:avLst/>
          </a:prstGeom>
          <a:solidFill>
            <a:srgbClr val="C6E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223000" y="4275988"/>
            <a:ext cx="5918200" cy="23185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5"/>
              </a:lnSpc>
            </a:pPr>
            <a:r>
              <a:rPr sz="1080" b="1" i="0">
                <a:solidFill>
                  <a:srgbClr val="0E0E0E"/>
                </a:solidFill>
                <a:latin typeface="Arial"/>
              </a:rPr>
              <a:t>La clave del suministro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23000" y="4495952"/>
            <a:ext cx="5918200" cy="4933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61"/>
              </a:lnSpc>
            </a:pPr>
            <a:r>
              <a:rPr sz="880" b="0" i="0">
                <a:solidFill>
                  <a:srgbClr val="394147"/>
                </a:solidFill>
                <a:latin typeface="Arial"/>
              </a:rPr>
              <a:t>Con la fecha como clave no se podian registrar dos despachos el mismo dia y no se sabia que</a:t>
            </a:r>
          </a:p>
          <a:p>
            <a:pPr algn="l">
              <a:lnSpc>
                <a:spcPts val="1161"/>
              </a:lnSpc>
            </a:pPr>
            <a:r>
              <a:rPr sz="880" b="0" i="0">
                <a:solidFill>
                  <a:srgbClr val="394147"/>
                </a:solidFill>
                <a:latin typeface="Arial"/>
              </a:rPr>
              <a:t>productos llevaba. Se creo SUMINISTRO con id_suministro y DETALLE_SUMINISTRO con</a:t>
            </a:r>
          </a:p>
          <a:p>
            <a:pPr algn="l">
              <a:lnSpc>
                <a:spcPts val="1161"/>
              </a:lnSpc>
            </a:pPr>
            <a:r>
              <a:rPr sz="880" b="0" i="0">
                <a:solidFill>
                  <a:srgbClr val="394147"/>
                </a:solidFill>
                <a:latin typeface="Arial"/>
              </a:rPr>
              <a:t>producto y cantidad.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23000" y="5030571"/>
            <a:ext cx="5918200" cy="188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2"/>
              </a:lnSpc>
            </a:pPr>
            <a:r>
              <a:rPr sz="819" b="1" i="0">
                <a:solidFill>
                  <a:srgbClr val="4A5258"/>
                </a:solidFill>
                <a:latin typeface="Arial"/>
              </a:rPr>
              <a:t>Antes: SUMINISTRO_LOCAL (fecha, almacen, local).  Despues: SUMINISTRO + DETALLE_SUMINISTRO.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85800" y="6451600"/>
            <a:ext cx="10820400" cy="0"/>
          </a:xfrm>
          <a:prstGeom prst="line">
            <a:avLst/>
          </a:prstGeom>
          <a:ln w="10160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85800" y="6537756"/>
            <a:ext cx="11455400" cy="17820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03"/>
              </a:lnSpc>
            </a:pPr>
            <a:r>
              <a:rPr sz="760" b="0" i="0">
                <a:solidFill>
                  <a:srgbClr val="8B949B"/>
                </a:solidFill>
                <a:latin typeface="Arial"/>
              </a:rPr>
              <a:t>Proyecto parcial  |  Disenio de Base de Datos Relacionales  |  Grupo 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56200" y="6537756"/>
            <a:ext cx="6350000" cy="17820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003"/>
              </a:lnSpc>
            </a:pPr>
            <a:r>
              <a:rPr sz="760" b="0" i="0">
                <a:solidFill>
                  <a:srgbClr val="8B949B"/>
                </a:solidFill>
                <a:latin typeface="Arial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d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1200" y="304800"/>
            <a:ext cx="482600" cy="796851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85800" y="508000"/>
            <a:ext cx="787400" cy="215900"/>
          </a:xfrm>
          <a:prstGeom prst="roundRect">
            <a:avLst>
              <a:gd name="adj" fmla="val 50000"/>
            </a:avLst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7400" y="544068"/>
            <a:ext cx="11353800" cy="1932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22"/>
              </a:lnSpc>
            </a:pPr>
            <a:r>
              <a:rPr sz="850" b="1" i="0">
                <a:solidFill>
                  <a:srgbClr val="3A4248"/>
                </a:solidFill>
                <a:latin typeface="Arial"/>
              </a:rPr>
              <a:t>CAPITULO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87400"/>
            <a:ext cx="11455400" cy="412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49"/>
              </a:lnSpc>
            </a:pPr>
            <a:r>
              <a:rPr sz="2500" b="1" i="0">
                <a:solidFill>
                  <a:srgbClr val="0E0E0E"/>
                </a:solidFill>
                <a:latin typeface="Arial"/>
              </a:rPr>
              <a:t>Conclusiones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06220"/>
            <a:ext cx="11455400" cy="2234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sz="1030" b="0" i="0">
                <a:solidFill>
                  <a:srgbClr val="333B41"/>
                </a:solidFill>
                <a:latin typeface="Arial"/>
              </a:rPr>
              <a:t>El disenio cubre el proceso completo: la compra del cliente, el control de existencias en los almacenes y el abastecimiento de los locales fisicos.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59508"/>
            <a:ext cx="45720" cy="45720"/>
          </a:xfrm>
          <a:prstGeom prst="roundRect">
            <a:avLst>
              <a:gd name="adj" fmla="val 50000"/>
            </a:avLst>
          </a:prstGeom>
          <a:solidFill>
            <a:srgbClr val="0E0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38200" y="1656486"/>
            <a:ext cx="11303000" cy="2251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72"/>
              </a:lnSpc>
            </a:pPr>
            <a:r>
              <a:rPr sz="1040" b="0" i="0">
                <a:solidFill>
                  <a:srgbClr val="1B2228"/>
                </a:solidFill>
                <a:latin typeface="Arial"/>
              </a:rPr>
              <a:t>El MER organiza el negocio en 7 entidades y 8 relaciones antes de pensar en el motor de base de datos.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035454"/>
            <a:ext cx="45720" cy="45720"/>
          </a:xfrm>
          <a:prstGeom prst="roundRect">
            <a:avLst>
              <a:gd name="adj" fmla="val 50000"/>
            </a:avLst>
          </a:prstGeom>
          <a:solidFill>
            <a:srgbClr val="0E0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38200" y="1932432"/>
            <a:ext cx="11303000" cy="2251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72"/>
              </a:lnSpc>
            </a:pPr>
            <a:r>
              <a:rPr sz="1040" b="0" i="0">
                <a:solidFill>
                  <a:srgbClr val="1B2228"/>
                </a:solidFill>
                <a:latin typeface="Arial"/>
              </a:rPr>
              <a:t>La normalizacion hasta 3FN elimina los grupos repetitivos, las dependencias parciales y las dependencias transitivas de cliente y categoria.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311400"/>
            <a:ext cx="45720" cy="45720"/>
          </a:xfrm>
          <a:prstGeom prst="roundRect">
            <a:avLst>
              <a:gd name="adj" fmla="val 50000"/>
            </a:avLst>
          </a:prstGeom>
          <a:solidFill>
            <a:srgbClr val="0E0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38200" y="2208377"/>
            <a:ext cx="11303000" cy="2251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72"/>
              </a:lnSpc>
            </a:pPr>
            <a:r>
              <a:rPr sz="1040" b="0" i="0">
                <a:solidFill>
                  <a:srgbClr val="1B2228"/>
                </a:solidFill>
                <a:latin typeface="Arial"/>
              </a:rPr>
              <a:t>El modelo logico define entidades, atributos e identificadores; el relacional fija 10 tablas, sus PK y las 12 claves foraneas.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587345"/>
            <a:ext cx="45720" cy="45720"/>
          </a:xfrm>
          <a:prstGeom prst="roundRect">
            <a:avLst>
              <a:gd name="adj" fmla="val 50000"/>
            </a:avLst>
          </a:prstGeom>
          <a:solidFill>
            <a:srgbClr val="0E0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38200" y="2484323"/>
            <a:ext cx="11303000" cy="2251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72"/>
              </a:lnSpc>
            </a:pPr>
            <a:r>
              <a:rPr sz="1040" b="0" i="0">
                <a:solidFill>
                  <a:srgbClr val="1B2228"/>
                </a:solidFill>
                <a:latin typeface="Arial"/>
              </a:rPr>
              <a:t>El modelo fisico traduce todo a SQL Server con tipos y longitudes justas, sin desperdiciar espacio.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863291"/>
            <a:ext cx="45720" cy="45720"/>
          </a:xfrm>
          <a:prstGeom prst="roundRect">
            <a:avLst>
              <a:gd name="adj" fmla="val 50000"/>
            </a:avLst>
          </a:prstGeom>
          <a:solidFill>
            <a:srgbClr val="0E0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38200" y="2760268"/>
            <a:ext cx="11303000" cy="2251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72"/>
              </a:lnSpc>
            </a:pPr>
            <a:r>
              <a:rPr sz="1040" b="0" i="0">
                <a:solidFill>
                  <a:srgbClr val="1B2228"/>
                </a:solidFill>
                <a:latin typeface="Arial"/>
              </a:rPr>
              <a:t>El diccionario de datos documenta las 10 tablas para que cualquier integrante pueda implementar la base sin ambiguedades.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993692"/>
            <a:ext cx="11455400" cy="2117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67"/>
              </a:lnSpc>
            </a:pPr>
            <a:r>
              <a:rPr sz="960" b="1" i="0">
                <a:solidFill>
                  <a:srgbClr val="0E0E0E"/>
                </a:solidFill>
                <a:latin typeface="Arial"/>
              </a:rPr>
              <a:t>Lo que se entrega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41800"/>
            <a:ext cx="3505200" cy="685800"/>
          </a:xfrm>
          <a:prstGeom prst="roundRect">
            <a:avLst>
              <a:gd name="adj" fmla="val 5555"/>
            </a:avLst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41800"/>
            <a:ext cx="38100" cy="685800"/>
          </a:xfrm>
          <a:prstGeom prst="rect">
            <a:avLst/>
          </a:prstGeom>
          <a:solidFill>
            <a:srgbClr val="C6E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200" y="4324299"/>
            <a:ext cx="11303000" cy="20838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40"/>
              </a:lnSpc>
            </a:pPr>
            <a:r>
              <a:rPr sz="940" b="1" i="0">
                <a:solidFill>
                  <a:srgbClr val="0E0E0E"/>
                </a:solidFill>
                <a:latin typeface="Arial"/>
              </a:rPr>
              <a:t>MER conceptual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200" y="4530344"/>
            <a:ext cx="11303000" cy="184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6"/>
              </a:lnSpc>
            </a:pPr>
            <a:r>
              <a:rPr sz="800" b="0" i="0">
                <a:solidFill>
                  <a:srgbClr val="394147"/>
                </a:solidFill>
                <a:latin typeface="Arial"/>
              </a:rPr>
              <a:t>Diagrama M.E.R. en Draw.io y PNG, notacion Chen.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4241800"/>
            <a:ext cx="3505200" cy="685800"/>
          </a:xfrm>
          <a:prstGeom prst="roundRect">
            <a:avLst>
              <a:gd name="adj" fmla="val 5555"/>
            </a:avLst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4343400" y="4241800"/>
            <a:ext cx="38100" cy="685800"/>
          </a:xfrm>
          <a:prstGeom prst="rect">
            <a:avLst/>
          </a:prstGeom>
          <a:solidFill>
            <a:srgbClr val="C6E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495800" y="4324299"/>
            <a:ext cx="7645400" cy="20838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40"/>
              </a:lnSpc>
            </a:pPr>
            <a:r>
              <a:rPr sz="940" b="1" i="0">
                <a:solidFill>
                  <a:srgbClr val="0E0E0E"/>
                </a:solidFill>
                <a:latin typeface="Arial"/>
              </a:rPr>
              <a:t>Normalizacion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95800" y="4530344"/>
            <a:ext cx="7645400" cy="184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6"/>
              </a:lnSpc>
            </a:pPr>
            <a:r>
              <a:rPr sz="800" b="0" i="0">
                <a:solidFill>
                  <a:srgbClr val="394147"/>
                </a:solidFill>
                <a:latin typeface="Arial"/>
              </a:rPr>
              <a:t>Excel con la tabla general, 1FN, 2FN y 3FN.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01000" y="4241800"/>
            <a:ext cx="3505200" cy="685800"/>
          </a:xfrm>
          <a:prstGeom prst="roundRect">
            <a:avLst>
              <a:gd name="adj" fmla="val 5555"/>
            </a:avLst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8001000" y="4241800"/>
            <a:ext cx="38100" cy="685800"/>
          </a:xfrm>
          <a:prstGeom prst="rect">
            <a:avLst/>
          </a:prstGeom>
          <a:solidFill>
            <a:srgbClr val="C6E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153400" y="4324299"/>
            <a:ext cx="3987800" cy="20838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40"/>
              </a:lnSpc>
            </a:pPr>
            <a:r>
              <a:rPr sz="940" b="1" i="0">
                <a:solidFill>
                  <a:srgbClr val="0E0E0E"/>
                </a:solidFill>
                <a:latin typeface="Arial"/>
              </a:rPr>
              <a:t>Modelo logico y relacional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53400" y="4530344"/>
            <a:ext cx="3987800" cy="184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6"/>
              </a:lnSpc>
            </a:pPr>
            <a:r>
              <a:rPr sz="800" b="0" i="0">
                <a:solidFill>
                  <a:srgbClr val="394147"/>
                </a:solidFill>
                <a:latin typeface="Arial"/>
              </a:rPr>
              <a:t>Proyecto de Oracle SQL Developer Data Modeler (.dmd).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029200"/>
            <a:ext cx="3505200" cy="685800"/>
          </a:xfrm>
          <a:prstGeom prst="roundRect">
            <a:avLst>
              <a:gd name="adj" fmla="val 5555"/>
            </a:avLst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685800" y="5029200"/>
            <a:ext cx="38100" cy="685800"/>
          </a:xfrm>
          <a:prstGeom prst="rect">
            <a:avLst/>
          </a:prstGeom>
          <a:solidFill>
            <a:srgbClr val="C6E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8200" y="5111699"/>
            <a:ext cx="11303000" cy="20838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40"/>
              </a:lnSpc>
            </a:pPr>
            <a:r>
              <a:rPr sz="940" b="1" i="0">
                <a:solidFill>
                  <a:srgbClr val="0E0E0E"/>
                </a:solidFill>
                <a:latin typeface="Arial"/>
              </a:rPr>
              <a:t>Modelo fisico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200" y="5317744"/>
            <a:ext cx="11303000" cy="184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6"/>
              </a:lnSpc>
            </a:pPr>
            <a:r>
              <a:rPr sz="800" b="0" i="0">
                <a:solidFill>
                  <a:srgbClr val="394147"/>
                </a:solidFill>
                <a:latin typeface="Arial"/>
              </a:rPr>
              <a:t>Scripts de SQL Server y Oracle, listos para ejecutar.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5029200"/>
            <a:ext cx="3505200" cy="685800"/>
          </a:xfrm>
          <a:prstGeom prst="roundRect">
            <a:avLst>
              <a:gd name="adj" fmla="val 5555"/>
            </a:avLst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4343400" y="5029200"/>
            <a:ext cx="38100" cy="685800"/>
          </a:xfrm>
          <a:prstGeom prst="rect">
            <a:avLst/>
          </a:prstGeom>
          <a:solidFill>
            <a:srgbClr val="C6E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4495800" y="5111699"/>
            <a:ext cx="7645400" cy="20838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40"/>
              </a:lnSpc>
            </a:pPr>
            <a:r>
              <a:rPr sz="940" b="1" i="0">
                <a:solidFill>
                  <a:srgbClr val="0E0E0E"/>
                </a:solidFill>
                <a:latin typeface="Arial"/>
              </a:rPr>
              <a:t>Diccionario de datos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95800" y="5317744"/>
            <a:ext cx="7645400" cy="184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6"/>
              </a:lnSpc>
            </a:pPr>
            <a:r>
              <a:rPr sz="800" b="0" i="0">
                <a:solidFill>
                  <a:srgbClr val="394147"/>
                </a:solidFill>
                <a:latin typeface="Arial"/>
              </a:rPr>
              <a:t>Documento con las 10 tablas, tipos y reglas.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01000" y="5029200"/>
            <a:ext cx="3505200" cy="685800"/>
          </a:xfrm>
          <a:prstGeom prst="roundRect">
            <a:avLst>
              <a:gd name="adj" fmla="val 5555"/>
            </a:avLst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8001000" y="5029200"/>
            <a:ext cx="38100" cy="685800"/>
          </a:xfrm>
          <a:prstGeom prst="rect">
            <a:avLst/>
          </a:prstGeom>
          <a:solidFill>
            <a:srgbClr val="C6E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153400" y="5111699"/>
            <a:ext cx="3987800" cy="20838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40"/>
              </a:lnSpc>
            </a:pPr>
            <a:r>
              <a:rPr sz="940" b="1" i="0">
                <a:solidFill>
                  <a:srgbClr val="0E0E0E"/>
                </a:solidFill>
                <a:latin typeface="Arial"/>
              </a:rPr>
              <a:t>Presentacion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53400" y="5317744"/>
            <a:ext cx="3987800" cy="184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6"/>
              </a:lnSpc>
            </a:pPr>
            <a:r>
              <a:rPr sz="800" b="0" i="0">
                <a:solidFill>
                  <a:srgbClr val="394147"/>
                </a:solidFill>
                <a:latin typeface="Arial"/>
              </a:rPr>
              <a:t>Este PDF con las 16 laminas del avance.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5800" y="5969000"/>
            <a:ext cx="10820400" cy="12700"/>
          </a:xfrm>
          <a:prstGeom prst="rect">
            <a:avLst/>
          </a:prstGeom>
          <a:solidFill>
            <a:srgbClr val="D5D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85800" y="6078524"/>
            <a:ext cx="11455400" cy="1949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35"/>
              </a:lnSpc>
            </a:pPr>
            <a:r>
              <a:rPr sz="860" b="1" i="0">
                <a:solidFill>
                  <a:srgbClr val="0E0E0E"/>
                </a:solidFill>
                <a:latin typeface="Arial"/>
              </a:rPr>
              <a:t>GRUPO 05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73200" y="6078524"/>
            <a:ext cx="10668000" cy="1949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35"/>
              </a:lnSpc>
            </a:pPr>
            <a:r>
              <a:rPr sz="860" b="0" i="0">
                <a:solidFill>
                  <a:srgbClr val="1B2228"/>
                </a:solidFill>
                <a:latin typeface="Arial"/>
              </a:rPr>
              <a:t>Daniel Asmat  -  Salomon Fernandez  -  Luis Coloma  -  Pablo Rios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6257950"/>
            <a:ext cx="11455400" cy="1815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29"/>
              </a:lnSpc>
            </a:pPr>
            <a:r>
              <a:rPr sz="780" b="0" i="0">
                <a:solidFill>
                  <a:srgbClr val="5E676E"/>
                </a:solidFill>
                <a:latin typeface="Arial"/>
              </a:rPr>
              <a:t>Docente: Sergio Fernando Castillo Carrion   |   Disenio de Bases de Datos Relacionales   |   IDAT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85800" y="6451600"/>
            <a:ext cx="10820400" cy="0"/>
          </a:xfrm>
          <a:prstGeom prst="line">
            <a:avLst/>
          </a:prstGeom>
          <a:ln w="10160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85800" y="6537756"/>
            <a:ext cx="11455400" cy="17820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03"/>
              </a:lnSpc>
            </a:pPr>
            <a:r>
              <a:rPr sz="760" b="0" i="0">
                <a:solidFill>
                  <a:srgbClr val="8B949B"/>
                </a:solidFill>
                <a:latin typeface="Arial"/>
              </a:rPr>
              <a:t>Proyecto parcial  |  Disenio de Base de Datos Relacionales  |  Grupo 05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56200" y="6537756"/>
            <a:ext cx="6350000" cy="17820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003"/>
              </a:lnSpc>
            </a:pPr>
            <a:r>
              <a:rPr sz="760" b="0" i="0">
                <a:solidFill>
                  <a:srgbClr val="8B949B"/>
                </a:solidFill>
                <a:latin typeface="Arial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
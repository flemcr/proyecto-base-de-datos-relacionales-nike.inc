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09728" cy="5394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6675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3C5FD"/>
                </a:solidFill>
                <a:latin typeface="Calibri"/>
              </a:rPr>
              <a:t>ESCUELA DE TECNOLOGIA - IDAT
UNIDAD DIDACTICA: DISENIO DE BASE DE DATOS RELACIONALES</a:t>
            </a:r>
          </a:p>
          <a:p>
            <a:pPr>
              <a:spcBef>
                <a:spcPts val="1800"/>
              </a:spcBef>
            </a:pPr>
            <a:r>
              <a:rPr sz="2800" b="1">
                <a:solidFill>
                  <a:srgbClr val="FFFFFF"/>
                </a:solidFill>
                <a:latin typeface="Calibri"/>
              </a:rPr>
              <a:t>PROYECTO PARCIAL:
DISENIO E IMPLEMENTACION DE BASE DE DATOS RELACIONAL PARA NIKE INC. (PERU)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E2E8F0"/>
                </a:solidFill>
                <a:latin typeface="Calibri"/>
              </a:rPr>
              <a:t>Alcance: Area de Ventas (Clientes, Catalogo y Pedidos), Control de Almacenes por Lotes (Talla y Color) y Suministro a Locales Fisicos a Nivel Nacional.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822960"/>
            <a:ext cx="3840480" cy="5303520"/>
          </a:xfrm>
          <a:prstGeom prst="rect">
            <a:avLst/>
          </a:prstGeom>
          <a:solidFill>
            <a:srgbClr val="1E3A5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28600" tIns="228600"/>
          <a:lstStyle/>
          <a:p>
            <a:pPr algn="ctr"/>
            <a:r>
              <a:rPr sz="1600" b="1">
                <a:solidFill>
                  <a:srgbClr val="93C5FD"/>
                </a:solidFill>
                <a:latin typeface="Calibri"/>
              </a:rPr>
              <a:t>INTEGRANTES - GRUPO 5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• Daniel Asmat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• Salomon Fernandez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• Luis Coloma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Calibri"/>
              </a:rPr>
              <a:t>• Pablo Rios</a:t>
            </a:r>
          </a:p>
          <a:p>
            <a:pPr>
              <a:spcBef>
                <a:spcPts val="1800"/>
              </a:spcBef>
            </a:pPr>
            <a:r>
              <a:rPr sz="1350" b="1">
                <a:solidFill>
                  <a:srgbClr val="93C5FD"/>
                </a:solidFill>
                <a:latin typeface="Calibri"/>
              </a:rPr>
              <a:t>CONTENIDO DEL PROYECTO: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E2E8F0"/>
                </a:solidFill>
                <a:latin typeface="Calibri"/>
              </a:rPr>
              <a:t>1. Descripcion, Problematica y Objetivos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E2E8F0"/>
                </a:solidFill>
                <a:latin typeface="Calibri"/>
              </a:rPr>
              <a:t>2. Modelo Conceptual MER (Draw.io)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E2E8F0"/>
                </a:solidFill>
                <a:latin typeface="Calibri"/>
              </a:rPr>
              <a:t>3. Normalizacion Completa (0FN a 3FN)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E2E8F0"/>
                </a:solidFill>
                <a:latin typeface="Calibri"/>
              </a:rPr>
              <a:t>4. Modelo Logico (Oracle Data Modeler)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E2E8F0"/>
                </a:solidFill>
                <a:latin typeface="Calibri"/>
              </a:rPr>
              <a:t>5. Modelo Relacional (Ingenieria Directa)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E2E8F0"/>
                </a:solidFill>
                <a:latin typeface="Calibri"/>
              </a:rPr>
              <a:t>6. Ajuste de Tipos y Medidas VARCHAR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E2E8F0"/>
                </a:solidFill>
                <a:latin typeface="Calibri"/>
              </a:rPr>
              <a:t>7. Modelo Fisico en SQL Server (SSMS)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E2E8F0"/>
                </a:solidFill>
                <a:latin typeface="Calibri"/>
              </a:rPr>
              <a:t>8. Diccionario de Datos (9 Tablas)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E2E8F0"/>
                </a:solidFill>
                <a:latin typeface="Calibri"/>
              </a:rPr>
              <a:t>9. Complicaciones del Grupo y Soluciones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1. DESCRIPCION DE LA EMPRESA, AREA ELEGIDA Y SITUACION PROBLEMATICA</a:t>
            </a:r>
          </a:p>
          <a:p>
            <a:r>
              <a:rPr sz="1150">
                <a:solidFill>
                  <a:srgbClr val="CBD5E1"/>
                </a:solidFill>
                <a:latin typeface="Calibri"/>
              </a:rPr>
              <a:t>Contextualizacion de las operaciones de NIKE Inc. en el Peru (Ventas y Cadena de Abastecimiento)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950">
                <a:solidFill>
                  <a:srgbClr val="475569"/>
                </a:solidFill>
                <a:latin typeface="Calibri"/>
              </a:rPr>
              <a:t>IDAT - Disenio de Base de Datos Relacionales | Proyecto Parcial: BD NIKE Inc. (Peru) | Grupo 5: Asmat, Fernandez, Coloma, 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6675120" cy="2606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350" b="1">
                <a:solidFill>
                  <a:srgbClr val="0F243E"/>
                </a:solidFill>
                <a:latin typeface="Calibri"/>
              </a:rPr>
              <a:t>1.1. Empresa y Area Seleccionada (Alcance Nacional en Peru)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Empresa: </a:t>
            </a:r>
            <a:r>
              <a:rPr sz="1150">
                <a:solidFill>
                  <a:srgbClr val="1E293B"/>
                </a:solidFill>
                <a:latin typeface="Calibri"/>
              </a:rPr>
              <a:t>NIKE Inc., dedicada a la comercializacion y distribucion de calzado, indumentaria y accesorios deportivos. El proyecto se delimita a su operacion en el Peru a nivel nacional (Lima, Arequipa, Trujillo).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Division Comercial (Nike Direct): </a:t>
            </a:r>
            <a:r>
              <a:rPr sz="1150">
                <a:solidFill>
                  <a:srgbClr val="1E293B"/>
                </a:solidFill>
                <a:latin typeface="Calibri"/>
              </a:rPr>
              <a:t>Administra el registro de clientes (incluyendo telefono titular obligatorio y telefono secundario opcional de respaldo), el catalogo de productos clasificados por categorias y los pedidos de compra.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Division Logistica (Supply Chain): </a:t>
            </a:r>
            <a:r>
              <a:rPr sz="1150">
                <a:solidFill>
                  <a:srgbClr val="1E293B"/>
                </a:solidFill>
                <a:latin typeface="Calibri"/>
              </a:rPr>
              <a:t>Gestiona los Centros de Distribucion (ALMACEN) controlando el stock por lotes de talla y color (STOCK_ALMACEN) y el abastecimiento continuo hacia las tiendas fisicas (LOCAL mediante SUMINISTRO_LOCAL).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3794760"/>
            <a:ext cx="6675120" cy="2606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350" b="1">
                <a:solidFill>
                  <a:srgbClr val="92400E"/>
                </a:solidFill>
                <a:latin typeface="Calibri"/>
              </a:rPr>
              <a:t>1.2. Situacion Problematica Inicial (Antes de la Base de Datos)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Uso de hojas de calculo no normalizadas: </a:t>
            </a:r>
            <a:r>
              <a:rPr sz="1150">
                <a:solidFill>
                  <a:srgbClr val="1E293B"/>
                </a:solidFill>
                <a:latin typeface="Calibri"/>
              </a:rPr>
              <a:t>Toda la operacion se registraba en una sola tabla plana donde se repetian el nombre, correo y direccion del cliente por cada producto comprado.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Celdas multivaluadas: </a:t>
            </a:r>
            <a:r>
              <a:rPr sz="1150">
                <a:solidFill>
                  <a:srgbClr val="1E293B"/>
                </a:solidFill>
                <a:latin typeface="Calibri"/>
              </a:rPr>
              <a:t>En una misma celda se guardaban dos telefonos separados por coma ('987654321, 945112233') y varios articulos comprados en una sola fila, impidiendo busquedas y validaciones.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E293B"/>
                </a:solidFill>
                <a:latin typeface="Calibri"/>
              </a:rPr>
              <a:t>• Riesgo de inflado de catalogo y sobreventa: </a:t>
            </a:r>
            <a:r>
              <a:rPr sz="1150">
                <a:solidFill>
                  <a:srgbClr val="1E293B"/>
                </a:solidFill>
                <a:latin typeface="Calibri"/>
              </a:rPr>
              <a:t>No existia separacion entre los datos generales del modelo de zapatilla y las existencias fisicas por talla/color en cada almacen, ocasionando quiebres de stock y errores en los despachos a tiendas.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051560"/>
            <a:ext cx="4462272" cy="5349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243E"/>
                </a:solidFill>
                <a:latin typeface="Calibri"/>
              </a:rPr>
              <a:t>Operacion Comercial y Tiendas Fisicas (LOCAL)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Integracion Almacen -&gt; Local -&gt; Cliente:
</a:t>
            </a:r>
            <a:r>
              <a:rPr sz="1100">
                <a:solidFill>
                  <a:srgbClr val="1E293B"/>
                </a:solidFill>
                <a:latin typeface="Calibri"/>
              </a:rPr>
              <a:t>Los Centros de Distribucion (CD Lima Norte, CD Sur Arequipa) almacenan lotes por talla y color, suministran mercaderia a los locales fisicos (Nike Store Jockey Plaza, Mall Plaza Arequipa, Real Plaza Trujillo) y atienden los pedidos nacionales.</a:t>
            </a:r>
          </a:p>
        </p:txBody>
      </p:sp>
      <p:pic>
        <p:nvPicPr>
          <p:cNvPr id="7" name="Picture 6" descr="page2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331720"/>
            <a:ext cx="4096512" cy="23028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2. OBJETIVOS DE LA IMPLEMENTACION Y REGLAS DE NEGOCIO DEFINIDAS</a:t>
            </a:r>
          </a:p>
          <a:p>
            <a:r>
              <a:rPr sz="1150">
                <a:solidFill>
                  <a:srgbClr val="CBD5E1"/>
                </a:solidFill>
                <a:latin typeface="Calibri"/>
              </a:rPr>
              <a:t>Criterios tecnicos establecidos por el Grupo 5 para garantizar integridad referencial y cero redundancia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950">
                <a:solidFill>
                  <a:srgbClr val="475569"/>
                </a:solidFill>
                <a:latin typeface="Calibri"/>
              </a:rPr>
              <a:t>IDAT - Disenio de Base de Datos Relacionales | Proyecto Parcial: BD NIKE Inc. (Peru) | Grupo 5: Asmat, Fernandez, Coloma, 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5394960" cy="5349240"/>
          </a:xfrm>
          <a:prstGeom prst="rect">
            <a:avLst/>
          </a:prstGeom>
          <a:solidFill>
            <a:srgbClr val="E8F0FE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320" b="1">
                <a:solidFill>
                  <a:srgbClr val="0F243E"/>
                </a:solidFill>
                <a:latin typeface="Calibri"/>
              </a:rPr>
              <a:t>2.1. Objetivos Principales de la Base de Datos</a:t>
            </a:r>
          </a:p>
          <a:p>
            <a:pPr>
              <a:spcAft>
                <a:spcPts val="400"/>
              </a:spcAft>
            </a:pPr>
            <a:r>
              <a:rPr sz="1120" b="1">
                <a:solidFill>
                  <a:srgbClr val="1E293B"/>
                </a:solidFill>
                <a:latin typeface="Calibri"/>
              </a:rPr>
              <a:t>1. Optimizar el catalogo sin redundancia ni inflado de filas:
</a:t>
            </a:r>
            <a:r>
              <a:rPr sz="1120">
                <a:solidFill>
                  <a:srgbClr val="1E293B"/>
                </a:solidFill>
                <a:latin typeface="Calibri"/>
              </a:rPr>
              <a:t>Administrar cada modelo comercial bajo un unico identificador (id_producto) en la tabla PRODUCTO (vinculado a CATEGORIA), y gestionar las unidades fisicas reales por lotes (talla, color, stock_actual y stock_minimo) en STOCK_ALMACEN. Asi se evita crear un registro distinto por cada par fisico de zapatillas.</a:t>
            </a:r>
          </a:p>
          <a:p>
            <a:pPr>
              <a:spcAft>
                <a:spcPts val="400"/>
              </a:spcAft>
            </a:pPr>
            <a:r>
              <a:rPr sz="1120" b="1">
                <a:solidFill>
                  <a:srgbClr val="1E293B"/>
                </a:solidFill>
                <a:latin typeface="Calibri"/>
              </a:rPr>
              <a:t>2. Controlar el inventario y abastecimiento en tiempo real:
</a:t>
            </a:r>
            <a:r>
              <a:rPr sz="1120">
                <a:solidFill>
                  <a:srgbClr val="1E293B"/>
                </a:solidFill>
                <a:latin typeface="Calibri"/>
              </a:rPr>
              <a:t>Monitorear las existencias en cada ALMACEN mediante alertas de stock_minimo para prevenir la sobreventa de tallas agotadas y registrar cada envio de mercaderia hacia las tiendas fisicas (LOCAL) en la tabla SUMINISTRO_LOCAL.</a:t>
            </a:r>
          </a:p>
          <a:p>
            <a:pPr>
              <a:spcAft>
                <a:spcPts val="400"/>
              </a:spcAft>
            </a:pPr>
            <a:r>
              <a:rPr sz="1120" b="1">
                <a:solidFill>
                  <a:srgbClr val="1E293B"/>
                </a:solidFill>
                <a:latin typeface="Calibri"/>
              </a:rPr>
              <a:t>3. Trazabilidad completa de clientes, pedidos y entregas:
</a:t>
            </a:r>
            <a:r>
              <a:rPr sz="1120">
                <a:solidFill>
                  <a:srgbClr val="1E293B"/>
                </a:solidFill>
                <a:latin typeface="Calibri"/>
              </a:rPr>
              <a:t>Registrar a los compradores con un telefono principal obligatorio y un segundo telefono opcional de respaldo (telefono_secundario), detallando cada pedido con su metodo de pago, IGV (18% en Peru), estado de envio y lineas de detalle (DETALLE_VENTA).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89320" y="1051560"/>
            <a:ext cx="5788152" cy="5349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243E"/>
                </a:solidFill>
                <a:latin typeface="Calibri"/>
              </a:rPr>
              <a:t>2.2. Reglas de Negocio Aplicadas al Modelo Relacional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RN01 (Telefonos en CLIENTE): </a:t>
            </a:r>
            <a:r>
              <a:rPr sz="1100">
                <a:solidFill>
                  <a:srgbClr val="1E293B"/>
                </a:solidFill>
                <a:latin typeface="Calibri"/>
              </a:rPr>
              <a:t>Un cliente tiene un telefono principal obligatorio VARCHAR(15) NOT NULL y puede registrar opcionalmente un telefono_secundario VARCHAR(15) NULL para que el repartidor tenga un contacto alternativo.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RN02 (No duplicidad del Total): </a:t>
            </a:r>
            <a:r>
              <a:rPr sz="1100">
                <a:solidFill>
                  <a:srgbClr val="1E293B"/>
                </a:solidFill>
                <a:latin typeface="Calibri"/>
              </a:rPr>
              <a:t>El importe total DECIMAL(10,2) se almacena exclusivamente en DETALLE_VENTA (cantidad * precio_unitario_aplicado). La tabla PEDIDO registra el impuesto igv DECIMAL(10,2) pero no repite una columna total.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RN03 (Relacion Cliente - Pedido - Producto): </a:t>
            </a:r>
            <a:r>
              <a:rPr sz="1100">
                <a:solidFill>
                  <a:srgbClr val="1E293B"/>
                </a:solidFill>
                <a:latin typeface="Calibri"/>
              </a:rPr>
              <a:t>Un CLIENTE realiza de uno a muchos PEDIDO (1:N). Cada PEDIDO contiene de uno a muchos productos a traves de DETALLE_VENTA, donde queda registrada la talla_elegida VARCHAR(10).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RN04 (Clasificacion en 3FN): </a:t>
            </a:r>
            <a:r>
              <a:rPr sz="1100">
                <a:solidFill>
                  <a:srgbClr val="1E293B"/>
                </a:solidFill>
                <a:latin typeface="Calibri"/>
              </a:rPr>
              <a:t>Una CATEGORIA agrupa a muchos modelos en PRODUCTO (1:N), evitando repetir el nombre y descripcion de la categoria en cada producto.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RN05 (Stock por Lotes): </a:t>
            </a:r>
            <a:r>
              <a:rPr sz="1100">
                <a:solidFill>
                  <a:srgbClr val="1E293B"/>
                </a:solidFill>
                <a:latin typeface="Calibri"/>
              </a:rPr>
              <a:t>Un ALMACEN guarda multiples productos y un PRODUCTO puede estar en varios almacenes (N:M), resuelto en STOCK_ALMACEN con PK compuesta (ALMACEN_id_almacen, PRODUCTO_id_producto, talla, color).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• RN06 (Suministro a Tiendas): </a:t>
            </a:r>
            <a:r>
              <a:rPr sz="1100">
                <a:solidFill>
                  <a:srgbClr val="1E293B"/>
                </a:solidFill>
                <a:latin typeface="Calibri"/>
              </a:rPr>
              <a:t>Un ALMACEN abastece a varios LOCAL en distintas fechas (N:M), resuelto en SUMINISTRO_LOCAL con PK compuesta (ALMACEN_id_almacen, LOCAL_id_local, fecha_suministro).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3. DISENIO CONCEPTUAL: DIAGRAMA ENTIDAD - RELACION (M.E.R. EN DRAW.IO)</a:t>
            </a:r>
          </a:p>
          <a:p>
            <a:r>
              <a:rPr sz="1150">
                <a:solidFill>
                  <a:srgbClr val="CBD5E1"/>
                </a:solidFill>
                <a:latin typeface="Calibri"/>
              </a:rPr>
              <a:t>Modelado en notacion Chen clasica (sin colores artificiales) en total concordancia con el Modelo Logico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950">
                <a:solidFill>
                  <a:srgbClr val="475569"/>
                </a:solidFill>
                <a:latin typeface="Calibri"/>
              </a:rPr>
              <a:t>IDAT - Disenio de Base de Datos Relacionales | Proyecto Parcial: BD NIKE Inc. (Peru) | Grupo 5: Asmat, Fernandez, Coloma, 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56692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rama MER (NIKE) - GRUPO 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78992"/>
            <a:ext cx="5182884" cy="52852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63640" y="1024128"/>
            <a:ext cx="5513832" cy="5394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0F243E"/>
                </a:solidFill>
                <a:latin typeface="Calibri"/>
              </a:rPr>
              <a:t>Estructura Tecnica del Diagrama MER (Notacion Chen)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1. Entidades Fuertes (6 Rectangulos): </a:t>
            </a:r>
            <a:r>
              <a:rPr sz="1050">
                <a:solidFill>
                  <a:srgbClr val="1E293B"/>
                </a:solidFill>
                <a:latin typeface="Calibri"/>
              </a:rPr>
              <a:t>CLIENTE, PEDIDO, PRODUCTO, CATEGORIA, ALMACEN y LOCAL. Cada entidad posee su atributo identificador (Id_cliente, Id_pedido, Id_producto, Id_categoria, Id_almacen, Id_local).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2. Incorporacion de Telefono_secundario en CLIENTE: </a:t>
            </a:r>
            <a:r>
              <a:rPr sz="1050">
                <a:solidFill>
                  <a:srgbClr val="1E293B"/>
                </a:solidFill>
                <a:latin typeface="Calibri"/>
              </a:rPr>
              <a:t>Ademas de Id_cliente, Nombre, Correo_e, Telefono y Direccion, se incluyo el ovalo Telefono_secundario para reflejar desde el nivel conceptual el segundo contacto opcional.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3. Rombos de Relacion (1:N): </a:t>
            </a:r>
            <a:r>
              <a:rPr sz="1050">
                <a:solidFill>
                  <a:srgbClr val="1E293B"/>
                </a:solidFill>
                <a:latin typeface="Calibri"/>
              </a:rPr>
              <a:t>• CLIENTE (1) --- REALIZA ---&gt; (N) PEDIDO.
• PRODUCTO (N) --- PERTENECE ---&gt; (1) CATEGORIA.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4. Rombos de Relacion Muchos a Muchos (N:M con atributos propios): </a:t>
            </a:r>
            <a:r>
              <a:rPr sz="1050">
                <a:solidFill>
                  <a:srgbClr val="1E293B"/>
                </a:solidFill>
                <a:latin typeface="Calibri"/>
              </a:rPr>
              <a:t>• CONTIENE (entre PEDIDO y PRODUCTO): En la notacion Chen se representa como rombo de relacion directa con sus 5 atributos (Id_detalle, Talla_elegida, Cantidad, Precio_unitario_aplicado y Total), el cual al pasar al Modelo Logico se convierte en la tabla DETALLE_VENTA.
• ALMACENA (entre ALMACEN y PRODUCTO): Con atributos Talla, Color, Stock_actual y Stock_minimo (origen de STOCK_ALMACEN).
• SUMINISTRA (entre ALMACEN y LOCAL): Con atributos Fecha_suministro y Estado_despacho (origen de SUMINISTRO_LOCAL).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5. Sentido de las Flechas: </a:t>
            </a:r>
            <a:r>
              <a:rPr sz="1050">
                <a:solidFill>
                  <a:srgbClr val="1E293B"/>
                </a:solidFill>
                <a:latin typeface="Calibri"/>
              </a:rPr>
              <a:t>Las flechas desde ALMACEN apuntan hacia arriba a PRODUCTO (ALMACEN -&gt; ALMACENA -&gt; PRODUCTO) y hacia abajo a LOCAL (ALMACEN -&gt; SUMINISTRA -&gt; LOCAL) para mantener una lectura gramatical correcta.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4. PROCESO DE NORMALIZACION (PARTE 1): DE LA TABLA GENERAL (0FN) A 1FN</a:t>
            </a:r>
          </a:p>
          <a:p>
            <a:r>
              <a:rPr sz="1150">
                <a:solidFill>
                  <a:srgbClr val="CBD5E1"/>
                </a:solidFill>
                <a:latin typeface="Calibri"/>
              </a:rPr>
              <a:t>Aplicacion de la Primera Forma Normal ('Un espacio, un dato') sobre datos reales de operacion en Peru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950">
                <a:solidFill>
                  <a:srgbClr val="475569"/>
                </a:solidFill>
                <a:latin typeface="Calibri"/>
              </a:rPr>
              <a:t>IDAT - Disenio de Base de Datos Relacionales | Proyecto Parcial: BD NIKE Inc. (Peru) | Grupo 5: Asmat, Fernandez, Coloma, Rios</a:t>
            </a:r>
          </a:p>
        </p:txBody>
      </p:sp>
      <p:pic>
        <p:nvPicPr>
          <p:cNvPr id="4" name="Picture 3" descr="norm_0fn_1f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24128"/>
            <a:ext cx="11365992" cy="34503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4526280"/>
            <a:ext cx="5577840" cy="190195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280" b="1">
                <a:solidFill>
                  <a:srgbClr val="92400E"/>
                </a:solidFill>
                <a:latin typeface="Calibri"/>
              </a:rPr>
              <a:t>Analisis de la Tabla Sin Normalizar (0FN)</a:t>
            </a:r>
          </a:p>
          <a:p>
            <a:pPr>
              <a:spcAft>
                <a:spcPts val="400"/>
              </a:spcAft>
            </a:pPr>
            <a:r>
              <a:rPr sz="1080" b="1">
                <a:solidFill>
                  <a:srgbClr val="1E293B"/>
                </a:solidFill>
                <a:latin typeface="Calibri"/>
              </a:rPr>
              <a:t>• Grupos repetitivos de productos: </a:t>
            </a:r>
            <a:r>
              <a:rPr sz="1080">
                <a:solidFill>
                  <a:srgbClr val="1E293B"/>
                </a:solidFill>
                <a:latin typeface="Calibri"/>
              </a:rPr>
              <a:t>En el pedido 5001, la celda productos_comprados agrupa dos articulos ('1001 - Pegasus 40, 1002 - Air Force 1') y dos tallas ('42, 41').</a:t>
            </a:r>
          </a:p>
          <a:p>
            <a:pPr>
              <a:spcAft>
                <a:spcPts val="400"/>
              </a:spcAft>
            </a:pPr>
            <a:r>
              <a:rPr sz="1080" b="1">
                <a:solidFill>
                  <a:srgbClr val="1E293B"/>
                </a:solidFill>
                <a:latin typeface="Calibri"/>
              </a:rPr>
              <a:t>• Celda multivaluada de telefonos: </a:t>
            </a:r>
            <a:r>
              <a:rPr sz="1080">
                <a:solidFill>
                  <a:srgbClr val="1E293B"/>
                </a:solidFill>
                <a:latin typeface="Calibri"/>
              </a:rPr>
              <a:t>El cliente Carlos Mendoza registra '987654321, 945112233' en una sola celda, impidiendo validar la longitud e indexar cada numero.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4526280"/>
            <a:ext cx="5605272" cy="1901952"/>
          </a:xfrm>
          <a:prstGeom prst="rect">
            <a:avLst/>
          </a:prstGeom>
          <a:solidFill>
            <a:srgbClr val="E8F0FE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280" b="1">
                <a:solidFill>
                  <a:srgbClr val="0F243E"/>
                </a:solidFill>
                <a:latin typeface="Calibri"/>
              </a:rPr>
              <a:t>Solucion en Primera Forma Normal (1FN - Atomicidad)</a:t>
            </a:r>
          </a:p>
          <a:p>
            <a:pPr>
              <a:spcAft>
                <a:spcPts val="400"/>
              </a:spcAft>
            </a:pPr>
            <a:r>
              <a:rPr sz="1080" b="1">
                <a:solidFill>
                  <a:srgbClr val="1E293B"/>
                </a:solidFill>
                <a:latin typeface="Calibri"/>
              </a:rPr>
              <a:t>• Desglose por linea de detalle: </a:t>
            </a:r>
            <a:r>
              <a:rPr sz="1080">
                <a:solidFill>
                  <a:srgbClr val="1E293B"/>
                </a:solidFill>
                <a:latin typeface="Calibri"/>
              </a:rPr>
              <a:t>Cada producto comprado pasa a ocupar su propia fila atomica identificada por la clave compuesta (id_pedido + id_detalle).</a:t>
            </a:r>
          </a:p>
          <a:p>
            <a:pPr>
              <a:spcAft>
                <a:spcPts val="400"/>
              </a:spcAft>
            </a:pPr>
            <a:r>
              <a:rPr sz="1080" b="1">
                <a:solidFill>
                  <a:srgbClr val="1E293B"/>
                </a:solidFill>
                <a:latin typeface="Calibri"/>
              </a:rPr>
              <a:t>• Desdoblamiento semantico de telefonos: </a:t>
            </a:r>
            <a:r>
              <a:rPr sz="1080">
                <a:solidFill>
                  <a:srgbClr val="1E293B"/>
                </a:solidFill>
                <a:latin typeface="Calibri"/>
              </a:rPr>
              <a:t>Se separa en dos columnas atomicas con distinto rol: telefono VARCHAR(15) (obligatorio, titular) y telefono_secundario VARCHAR(15) (opcional / NULL para quien solo tiene un numero, como Lucia Paredes).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5. PROCESO DE NORMALIZACION (PARTE 2): SEGUNDA (2FN) Y TERCERA FORMA NORMAL (3FN)</a:t>
            </a:r>
          </a:p>
          <a:p>
            <a:r>
              <a:rPr sz="1150">
                <a:solidFill>
                  <a:srgbClr val="CBD5E1"/>
                </a:solidFill>
                <a:latin typeface="Calibri"/>
              </a:rPr>
              <a:t>Eliminacion de dependencias parciales (2FN) y dependencias transitivas (3FN) hasta obtener las 9 tablas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950">
                <a:solidFill>
                  <a:srgbClr val="475569"/>
                </a:solidFill>
                <a:latin typeface="Calibri"/>
              </a:rPr>
              <a:t>IDAT - Disenio de Base de Datos Relacionales | Proyecto Parcial: BD NIKE Inc. (Peru) | Grupo 5: Asmat, Fernandez, Coloma, Rios</a:t>
            </a:r>
          </a:p>
        </p:txBody>
      </p:sp>
      <p:pic>
        <p:nvPicPr>
          <p:cNvPr id="4" name="Picture 3" descr="norm_2fn_3f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24128"/>
            <a:ext cx="7086600" cy="27840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35240" y="1024128"/>
            <a:ext cx="4142232" cy="2606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0F243E"/>
                </a:solidFill>
                <a:latin typeface="Calibri"/>
              </a:rPr>
              <a:t>Paso a 2FN ('Si se repite, va aparte')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Problema en 1FN (Dependencia Parcial): </a:t>
            </a:r>
            <a:r>
              <a:rPr sz="1050">
                <a:solidFill>
                  <a:srgbClr val="1E293B"/>
                </a:solidFill>
                <a:latin typeface="Calibri"/>
              </a:rPr>
              <a:t>Los datos del cliente y la fecha del pedido dependian solo de id_pedido, mientras que el nombre y precio base del producto dependian solo de id_producto.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Solucion en 2FN: </a:t>
            </a:r>
            <a:r>
              <a:rPr sz="1050">
                <a:solidFill>
                  <a:srgbClr val="1E293B"/>
                </a:solidFill>
                <a:latin typeface="Calibri"/>
              </a:rPr>
              <a:t>Se separan las tablas CLIENTE, PEDIDO, PRODUCTO, ALMACEN y LOCAL, dejando en DETALLE_VENTA, STOCK_ALMACEN y SUMINISTRO_LOCAL solo los atributos que dependen de la llave completa.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3749039"/>
            <a:ext cx="4142232" cy="2670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166534"/>
                </a:solidFill>
                <a:latin typeface="Calibri"/>
              </a:rPr>
              <a:t>Paso a 3FN ('Cada cosa donde pertenece')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Problema en 2FN (Dependencia Transitiva): </a:t>
            </a:r>
            <a:r>
              <a:rPr sz="1050">
                <a:solidFill>
                  <a:srgbClr val="1E293B"/>
                </a:solidFill>
                <a:latin typeface="Calibri"/>
              </a:rPr>
              <a:t>En la tabla PRODUCTO, los atributos nombre_categoria y descripcion_categoria dependian de id_categoria y no directamente de id_producto.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Solucion en 3FN: </a:t>
            </a:r>
            <a:r>
              <a:rPr sz="1050">
                <a:solidFill>
                  <a:srgbClr val="1E293B"/>
                </a:solidFill>
                <a:latin typeface="Calibri"/>
              </a:rPr>
              <a:t>Se extrae la tabla CATEGORIA (id_categoria, nombre, descripcion) y en PRODUCTO queda solo la llave foranea CATEGORIA_id_categoria.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Resultado Final: </a:t>
            </a:r>
            <a:r>
              <a:rPr sz="1050">
                <a:solidFill>
                  <a:srgbClr val="1E293B"/>
                </a:solidFill>
                <a:latin typeface="Calibri"/>
              </a:rPr>
              <a:t>9 tablas en 3FN libres de anomalias de insercion, actualizacion y borrado.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6. DISENIO LOGICO EN ORACLE SQL DEVELOPER DATA MODELER</a:t>
            </a:r>
          </a:p>
          <a:p>
            <a:r>
              <a:rPr sz="1150">
                <a:solidFill>
                  <a:srgbClr val="CBD5E1"/>
                </a:solidFill>
                <a:latin typeface="Calibri"/>
              </a:rPr>
              <a:t>Estructuracion de las 9 entidades, identificadores primarios (P), foraneos (F / PF) y obligatoriedad (*)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950">
                <a:solidFill>
                  <a:srgbClr val="475569"/>
                </a:solidFill>
                <a:latin typeface="Calibri"/>
              </a:rPr>
              <a:t>IDAT - Disenio de Base de Datos Relacionales | Proyecto Parcial: BD NIKE Inc. (Peru) | Grupo 5: Asmat, Fernandez, Coloma, 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745236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del_logic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15568"/>
            <a:ext cx="7269480" cy="454428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01000" y="1024128"/>
            <a:ext cx="3776472" cy="5394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230" b="1">
                <a:solidFill>
                  <a:srgbClr val="0F243E"/>
                </a:solidFill>
                <a:latin typeface="Calibri"/>
              </a:rPr>
              <a:t>Analisis del Modelo Logico</a:t>
            </a:r>
          </a:p>
          <a:p>
            <a:pPr>
              <a:spcAft>
                <a:spcPts val="400"/>
              </a:spcAft>
            </a:pPr>
            <a:r>
              <a:rPr sz="1030" b="1">
                <a:solidFill>
                  <a:srgbClr val="1E293B"/>
                </a:solidFill>
                <a:latin typeface="Calibri"/>
              </a:rPr>
              <a:t>1. Notacion Barker / Pata de Gallo:
</a:t>
            </a:r>
            <a:r>
              <a:rPr sz="1030">
                <a:solidFill>
                  <a:srgbClr val="1E293B"/>
                </a:solidFill>
                <a:latin typeface="Calibri"/>
              </a:rPr>
              <a:t>Las lineas punteadas representan relaciones no identificantes (1:N hacia PEDIDO, DETALLE_VENTA y PRODUCTO), mientras que las lineas continuas representan relaciones identificantes donde la llave foranea pasa a formar parte de la clave primaria compuesta (PF en STOCK_ALMACEN y SUMINISTRO_LOCAL).</a:t>
            </a:r>
          </a:p>
          <a:p>
            <a:pPr>
              <a:spcAft>
                <a:spcPts val="400"/>
              </a:spcAft>
            </a:pPr>
            <a:r>
              <a:rPr sz="1030" b="1">
                <a:solidFill>
                  <a:srgbClr val="1E293B"/>
                </a:solidFill>
                <a:latin typeface="Calibri"/>
              </a:rPr>
              <a:t>2. Simbologia de Claves y Atributos:
</a:t>
            </a:r>
            <a:r>
              <a:rPr sz="1030">
                <a:solidFill>
                  <a:srgbClr val="1E293B"/>
                </a:solidFill>
                <a:latin typeface="Calibri"/>
              </a:rPr>
              <a:t>• P : Identificador Primario (PK).
• F : Atributo Foraneo (FK).
• PF: Parte de Clave Primaria Compuesta y Foranea a la vez.
• * (Asterisco rojo): Atributo obligatorio (Mandatory / NOT NULL).
• Sin asterisco: Atributo opcional (NULL permitido), aplicado en telefono_secundario (CLIENTE), descripcion (CATEGORIA), especificaciones (PRODUCTO) y estado_despacho (SUMINISTRO_LOCAL).</a:t>
            </a:r>
          </a:p>
          <a:p>
            <a:pPr>
              <a:spcAft>
                <a:spcPts val="400"/>
              </a:spcAft>
            </a:pPr>
            <a:r>
              <a:rPr sz="1030" b="1">
                <a:solidFill>
                  <a:srgbClr val="1E293B"/>
                </a:solidFill>
                <a:latin typeface="Calibri"/>
              </a:rPr>
              <a:t>3. Optimizacion del Rendimiento:
</a:t>
            </a:r>
            <a:r>
              <a:rPr sz="1030">
                <a:solidFill>
                  <a:srgbClr val="1E293B"/>
                </a:solidFill>
                <a:latin typeface="Calibri"/>
              </a:rPr>
              <a:t>Todas las llaves primarias e indices quedan formalmente declarados para acelerar los JOINs entre ventas y almacenes.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7. DISENIO RELACIONAL EN ORACLE SQL DEVELOPER DATA MODELER</a:t>
            </a:r>
          </a:p>
          <a:p>
            <a:r>
              <a:rPr sz="1150">
                <a:solidFill>
                  <a:srgbClr val="CBD5E1"/>
                </a:solidFill>
                <a:latin typeface="Calibri"/>
              </a:rPr>
              <a:t>Transformacion mediante Ingenieria Directa (&gt;&gt;), generacion de restricciones PK/FK y claves compuestas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950">
                <a:solidFill>
                  <a:srgbClr val="475569"/>
                </a:solidFill>
                <a:latin typeface="Calibri"/>
              </a:rPr>
              <a:t>IDAT - Disenio de Base de Datos Relacionales | Proyecto Parcial: BD NIKE Inc. (Peru) | Grupo 5: Asmat, Fernandez, Coloma, 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745236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del_relacional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15568"/>
            <a:ext cx="7269480" cy="453144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01000" y="1024128"/>
            <a:ext cx="3776472" cy="5394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230" b="1">
                <a:solidFill>
                  <a:srgbClr val="0F243E"/>
                </a:solidFill>
                <a:latin typeface="Calibri"/>
              </a:rPr>
              <a:t>Caracteristicas del Modelo Relacional</a:t>
            </a:r>
          </a:p>
          <a:p>
            <a:pPr>
              <a:spcAft>
                <a:spcPts val="400"/>
              </a:spcAft>
            </a:pPr>
            <a:r>
              <a:rPr sz="1030" b="1">
                <a:solidFill>
                  <a:srgbClr val="1E293B"/>
                </a:solidFill>
                <a:latin typeface="Calibri"/>
              </a:rPr>
              <a:t>1. Ingenieria Directa (&gt;&gt;):
</a:t>
            </a:r>
            <a:r>
              <a:rPr sz="1030">
                <a:solidFill>
                  <a:srgbClr val="1E293B"/>
                </a:solidFill>
                <a:latin typeface="Calibri"/>
              </a:rPr>
              <a:t>Al aplicar 'Realizar Ingenieria a Modelo Relacional' en Data Modeler, las 9 entidades logicas se transforman en tablas relacionales creando automaticamente las columnas de llave foranea con el formato TABLA_PADRE_id.</a:t>
            </a:r>
          </a:p>
          <a:p>
            <a:pPr>
              <a:spcAft>
                <a:spcPts val="400"/>
              </a:spcAft>
            </a:pPr>
            <a:r>
              <a:rPr sz="1030" b="1">
                <a:solidFill>
                  <a:srgbClr val="1E293B"/>
                </a:solidFill>
                <a:latin typeface="Calibri"/>
              </a:rPr>
              <a:t>2. Claves Primarias Compuestas (PFK):
</a:t>
            </a:r>
            <a:r>
              <a:rPr sz="1030">
                <a:solidFill>
                  <a:srgbClr val="1E293B"/>
                </a:solidFill>
                <a:latin typeface="Calibri"/>
              </a:rPr>
              <a:t>• STOCK_ALMACEN_PK: Compuesta por (talla, color, ALMACEN_id_almacen, PRODUCTO_id_producto). Garantiza que no se duplique el mismo lote de talla y color para un mismo producto en el mismo almacen.
• SUMINISTRO_LOCAL_PK: Compuesta por (fecha_suministro, ALMACEN_id_almacen, LOCAL_id_local). Registra los despachos historicos entre almacenes y tiendas.</a:t>
            </a:r>
          </a:p>
          <a:p>
            <a:pPr>
              <a:spcAft>
                <a:spcPts val="400"/>
              </a:spcAft>
            </a:pPr>
            <a:r>
              <a:rPr sz="1030" b="1">
                <a:solidFill>
                  <a:srgbClr val="1E293B"/>
                </a:solidFill>
                <a:latin typeface="Calibri"/>
              </a:rPr>
              <a:t>3. Integridad Referencial Completa:
</a:t>
            </a:r>
            <a:r>
              <a:rPr sz="1030">
                <a:solidFill>
                  <a:srgbClr val="1E293B"/>
                </a:solidFill>
                <a:latin typeface="Calibri"/>
              </a:rPr>
              <a:t>Se definen 8 restricciones FOREIGN KEY explicitas (PEDIDO_CLIENTE_FK, DETALLE_VENTA_PEDIDO_FK, DETALLE_VENTA_PRODUCTO_FK, PRODUCTO_CATEGORIA_FK, STOCK_ALMACEN_ALMACEN_FK, STOCK_ALMACEN_PRODUCTO_FK, SUMINISTRO_LOCAL_ALMACEN_FK y SUMINISTRO_LOCAL_LOCAL_FK).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8. OPTIMIZACION DE TIPOS DE DATOS Y MEDIDAS VARCHAR ('JUSTO Y NECESARIO')</a:t>
            </a:r>
          </a:p>
          <a:p>
            <a:r>
              <a:rPr sz="1150">
                <a:solidFill>
                  <a:srgbClr val="CBD5E1"/>
                </a:solidFill>
                <a:latin typeface="Calibri"/>
              </a:rPr>
              <a:t>Sustento tecnico del dimensionamiento de columnas para evitar desperdicio de espacio en disco y memoria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950">
                <a:solidFill>
                  <a:srgbClr val="475569"/>
                </a:solidFill>
                <a:latin typeface="Calibri"/>
              </a:rPr>
              <a:t>IDAT - Disenio de Base de Datos Relacionales | Proyecto Parcial: BD NIKE Inc. (Peru) | Grupo 5: Asmat, Fernandez, Coloma, 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3977639" cy="5394960"/>
          </a:xfrm>
          <a:prstGeom prst="rect">
            <a:avLst/>
          </a:prstGeom>
          <a:solidFill>
            <a:srgbClr val="E8F0FE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220" b="1">
                <a:solidFill>
                  <a:srgbClr val="0F243E"/>
                </a:solidFill>
                <a:latin typeface="Calibri"/>
              </a:rPr>
              <a:t>Sustento Tecnico de Tipos Clave</a:t>
            </a:r>
          </a:p>
          <a:p>
            <a:pPr>
              <a:spcAft>
                <a:spcPts val="400"/>
              </a:spcAft>
            </a:pPr>
            <a:r>
              <a:rPr sz="1019" b="1">
                <a:solidFill>
                  <a:srgbClr val="1E293B"/>
                </a:solidFill>
                <a:latin typeface="Calibri"/>
              </a:rPr>
              <a:t>1. ¿Por que VARCHAR(15) en telefono y telefono_secundario?
</a:t>
            </a:r>
            <a:r>
              <a:rPr sz="1019">
                <a:solidFill>
                  <a:srgbClr val="1E293B"/>
                </a:solidFill>
                <a:latin typeface="Calibri"/>
              </a:rPr>
              <a:t>• No se usa INT porque con un telefono no se realizan calculos matematicos y un entero eliminaria ceros a la izquierda (codigos fijos de provincia como 044 en Trujillo o 054 en Arequipa).
• Al ser VARCHAR (longitud variable) y no CHAR (longitud fija), un celular peruano de 9 digitos ocupa exactamente 9 bytes en disco, con cero espacio desperdiciado.
• El tope de 15 caracteres responde al estandar mundial ITU-T E.164 (maximo de 15 digitos internacionales), permitiendo que cualquier turista o comprador extranjero en el Peru registre su numero sin truncamiento.</a:t>
            </a:r>
          </a:p>
          <a:p>
            <a:pPr>
              <a:spcAft>
                <a:spcPts val="400"/>
              </a:spcAft>
            </a:pPr>
            <a:r>
              <a:rPr sz="1019" b="1">
                <a:solidFill>
                  <a:srgbClr val="1E293B"/>
                </a:solidFill>
                <a:latin typeface="Calibri"/>
              </a:rPr>
              <a:t>2. ¿Por que DECIMAL(10, 2) en precios, IGV y total?
</a:t>
            </a:r>
            <a:r>
              <a:rPr sz="1019">
                <a:solidFill>
                  <a:srgbClr val="1E293B"/>
                </a:solidFill>
                <a:latin typeface="Calibri"/>
              </a:rPr>
              <a:t>• Evita los errores de redondeo binario de FLOAT/REAL y almacena importes monetarios en Soles (S/) con 2 decimales exactos.</a:t>
            </a:r>
          </a:p>
          <a:p>
            <a:pPr>
              <a:spcAft>
                <a:spcPts val="400"/>
              </a:spcAft>
            </a:pPr>
            <a:r>
              <a:rPr sz="1019" b="1">
                <a:solidFill>
                  <a:srgbClr val="1E293B"/>
                </a:solidFill>
                <a:latin typeface="Calibri"/>
              </a:rPr>
              <a:t>3. Unificacion de Criterios en las 9 Tablas:
</a:t>
            </a:r>
            <a:r>
              <a:rPr sz="1019">
                <a:solidFill>
                  <a:srgbClr val="1E293B"/>
                </a:solidFill>
                <a:latin typeface="Calibri"/>
              </a:rPr>
              <a:t>• Todas las tallas usan VARCHAR(10).
• Todos los estados usan VARCHAR(20).
• Todas las direcciones y descripciones usan VARCHAR(150).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26280" y="1024128"/>
          <a:ext cx="7251192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508760"/>
                <a:gridCol w="777240"/>
                <a:gridCol w="1051560"/>
                <a:gridCol w="2496312"/>
              </a:tblGrid>
              <a:tr h="33718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Tabla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Columna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Antes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Medida Justa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Justificacion Tecnica del Ajuste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nombre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VARCHAR(80)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Suficiente para nombres y dos apellidos en Peru.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correo_e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VARCHAR(80)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Medida justa para correos personales o corporativos.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telefono (*)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VARCHAR(15)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Obligatorio. 9 digitos Peru (9 bytes) y hasta 15 norma E.164.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telefono_secundario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Nuevo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VARCHAR(15)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Opcional (NULL). Contacto de respaldo para entrega.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Calibri"/>
                        </a:rPr>
                        <a:t>CLIENTE / 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direccion / dir_local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200 / 150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VARCHAR(150)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Unificado en 150 caracteres para direcciones nacionales.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Calibri"/>
                        </a:rPr>
                        <a:t>PEDIDO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metodo_pago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VARCHAR(30)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Cubre 'Tarjeta de Credito', 'Yape / Plin', 'PagoEfectivo'.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Calibri"/>
                        </a:rPr>
                        <a:t>PEDIDO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estado_envio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VARCHAR(20)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Unificado en 20 con todos los estados del modelo.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Calibri"/>
                        </a:rPr>
                        <a:t>DETALLE_VENTA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talla_elegida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VARCHAR(10)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Unificado en 10 con STOCK_ALMACEN.talla ('42', '9.5 US').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nombre / descripcion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50 / 150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50 / 150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Medidas justas para titulo y resumen de categoria.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Calibri"/>
                        </a:rPr>
                        <a:t>PRODUCTO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nombre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VARCHAR(80)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Ajustado a 80 para nombres comerciales de modelos Nike.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Calibri"/>
                        </a:rPr>
                        <a:t>PRODUCTO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especificaciones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VARCHAR(150)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Se elimino el 255 por defecto para ficha tecnica breve.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Calibri"/>
                        </a:rPr>
                        <a:t>PRODUCTO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VARCHAR(20)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Unificado en 20 ('DISPONIBLE', 'AGOTADO').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Calibri"/>
                        </a:rPr>
                        <a:t>ALMACEN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nombre / ubicacion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50 / 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50 / 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Medidas justas para sede ('CD Lima Norte') y ubicacion.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Calibri"/>
                        </a:rPr>
                        <a:t>STOCK_ALMACEN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talla / color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15 / 40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10 / 30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Talla unificada en 10 y color ajustado de 40 a 30.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Calibri"/>
                        </a:rPr>
                        <a:t>SUMINISTRO_LOCAL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estado_despacho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VARCHAR(20)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Calibri"/>
                        </a:rPr>
                        <a:t>Unificado en 20 ('ENTREGADO', 'EN RUTA').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9. DISENIO FISICO: IMPLEMENTACION EN SQL SERVER MANAGEMENT STUDIO (SSMS)</a:t>
            </a:r>
          </a:p>
          <a:p>
            <a:r>
              <a:rPr sz="1150">
                <a:solidFill>
                  <a:srgbClr val="CBD5E1"/>
                </a:solidFill>
                <a:latin typeface="Calibri"/>
              </a:rPr>
              <a:t>Ejecucion del script DDL en la base de datos BD_NIKE_INC y verificacion del Diagrama de Base de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950">
                <a:solidFill>
                  <a:srgbClr val="475569"/>
                </a:solidFill>
                <a:latin typeface="Calibri"/>
              </a:rPr>
              <a:t>IDAT - Disenio de Base de Datos Relacionales | Proyecto Parcial: BD NIKE Inc. (Peru) | Grupo 5: Asmat, Fernandez, Coloma, 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745236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del_fisic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7269480" cy="513743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01000" y="1024128"/>
            <a:ext cx="3776472" cy="5394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230" b="1">
                <a:solidFill>
                  <a:srgbClr val="0F243E"/>
                </a:solidFill>
                <a:latin typeface="Calibri"/>
              </a:rPr>
              <a:t>Implementacion Fisica en SQL Server</a:t>
            </a:r>
          </a:p>
          <a:p>
            <a:pPr>
              <a:spcAft>
                <a:spcPts val="400"/>
              </a:spcAft>
            </a:pPr>
            <a:r>
              <a:rPr sz="1030" b="1">
                <a:solidFill>
                  <a:srgbClr val="1E293B"/>
                </a:solidFill>
                <a:latin typeface="Calibri"/>
              </a:rPr>
              <a:t>1. Orden Jerarquico de Creacion DDL:
</a:t>
            </a:r>
            <a:r>
              <a:rPr sz="1030">
                <a:solidFill>
                  <a:srgbClr val="1E293B"/>
                </a:solidFill>
                <a:latin typeface="Calibri"/>
              </a:rPr>
              <a:t>• Nivel 1 (Tablas Maestras sin FKs): ALMACEN, CATEGORIA, CLIENTE y LOCAL.
• Nivel 2 (Tablas con 1 FK): PRODUCTO (referencia a CATEGORIA) y PEDIDO (referencia a CLIENTE).
• Nivel 3 (Tablas Asociativas): DETALLE_VENTA, STOCK_ALMACEN y SUMINISTRO_LOCAL.</a:t>
            </a:r>
          </a:p>
          <a:p>
            <a:pPr>
              <a:spcAft>
                <a:spcPts val="400"/>
              </a:spcAft>
            </a:pPr>
            <a:r>
              <a:rPr sz="1030" b="1">
                <a:solidFill>
                  <a:srgbClr val="1E293B"/>
                </a:solidFill>
                <a:latin typeface="Calibri"/>
              </a:rPr>
              <a:t>2. Validacion en el Diagrama de SSMS:
</a:t>
            </a:r>
            <a:r>
              <a:rPr sz="1030">
                <a:solidFill>
                  <a:srgbClr val="1E293B"/>
                </a:solidFill>
                <a:latin typeface="Calibri"/>
              </a:rPr>
              <a:t>• Las llaves doradas indican las columnas que conforman la PRIMARY KEY (simple en las 7 primeras tablas, y multiple en STOCK_ALMACEN y SUMINISTRO_LOCAL).
• Los conectores con llave (1) e infinito (∞) confirman fisicamente las 8 relaciones FOREIGN KEY creadas en el motor SQL Server.</a:t>
            </a:r>
          </a:p>
          <a:p>
            <a:pPr>
              <a:spcAft>
                <a:spcPts val="400"/>
              </a:spcAft>
            </a:pPr>
            <a:r>
              <a:rPr sz="1030" b="1">
                <a:solidFill>
                  <a:srgbClr val="1E293B"/>
                </a:solidFill>
                <a:latin typeface="Calibri"/>
              </a:rPr>
              <a:t>3. Adaptacion de Sintaxis Oracle -&gt; T-SQL:
</a:t>
            </a:r>
            <a:r>
              <a:rPr sz="1030">
                <a:solidFill>
                  <a:srgbClr val="1E293B"/>
                </a:solidFill>
                <a:latin typeface="Calibri"/>
              </a:rPr>
              <a:t>Se convirtieron los tipos nativos de Oracle (VARCHAR2, NUMBER) exportados por Data Modeler a los tipos estandar de SQL Server (VARCHAR, INT, DECIMAL(10,2), DATETIME y DATE).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10. DICCIONARIO DE DATOS (PARTE 1: TABLAS DEL AREA COMERCIAL Y VENTAS)</a:t>
            </a:r>
          </a:p>
          <a:p>
            <a:r>
              <a:rPr sz="1150">
                <a:solidFill>
                  <a:srgbClr val="CBD5E1"/>
                </a:solidFill>
                <a:latin typeface="Calibri"/>
              </a:rPr>
              <a:t>Especificacion de columnas, tipos, longitudes, claves y obligatoriedad para CLIENTE, CATEGORIA, PRODUCTO, PEDIDO y DETALLE_VENTA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950">
                <a:solidFill>
                  <a:srgbClr val="475569"/>
                </a:solidFill>
                <a:latin typeface="Calibri"/>
              </a:rPr>
              <a:t>IDAT - Disenio de Base de Datos Relacionales | Proyecto Parcial: BD NIKE Inc. (Peru) | Grupo 5: Asmat, Fernandez, Coloma, Rios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87552"/>
          <a:ext cx="11365992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965960"/>
                <a:gridCol w="1417320"/>
                <a:gridCol w="777240"/>
                <a:gridCol w="777240"/>
                <a:gridCol w="4919472"/>
              </a:tblGrid>
              <a:tr h="236551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Calibri"/>
                        </a:rPr>
                        <a:t>Tabla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Calibri"/>
                        </a:rPr>
                        <a:t>Columna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Calibri"/>
                        </a:rPr>
                        <a:t>Tipo y Tamanio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Calibri"/>
                        </a:rPr>
                        <a:t>Clave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Calibri"/>
                        </a:rPr>
                        <a:t>Nulo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Calibri"/>
                        </a:rPr>
                        <a:t>Descripcion y Regla de Integridad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236551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E293B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id_cliente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Identificador unico del cliente comprador.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6551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E293B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nombre / correo_e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VARCHAR(80)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Nombre completo y correo electronico del cliente.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36551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E293B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telefono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VARCHAR(15)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Telefono principal obligatorio (9 digitos Peru / hasta 15 norma E.164).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6551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E293B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telefono_secundario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VARCHAR(15)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SI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Segundo telefono opcional de respaldo para el repartidor.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36551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E293B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direccion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VARCHAR(150)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Direccion de entrega a nivel nacional.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6551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E293B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id_categoria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PK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Identificador unico de la categoria deportiva.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36551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E293B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nombre / descripcion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VARCHAR(50 / 150)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 / 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Nombre obligatorio (50) y descripcion opcional (150) de la linea.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6551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E293B"/>
                          </a:solidFill>
                          <a:latin typeface="Calibri"/>
                        </a:rPr>
                        <a:t>PRODUCTO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id_producto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PK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Codigo unico del modelo en el catalogo.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36551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E293B"/>
                          </a:solidFill>
                          <a:latin typeface="Calibri"/>
                        </a:rPr>
                        <a:t>PRODUCTO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nombre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VARCHAR(80)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Nombre comercial del modelo Nike.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6551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E293B"/>
                          </a:solidFill>
                          <a:latin typeface="Calibri"/>
                        </a:rPr>
                        <a:t>PRODUCTO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especificaciones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VARCHAR(150)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SI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Ficha tecnica resumida del producto.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36551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E293B"/>
                          </a:solidFill>
                          <a:latin typeface="Calibri"/>
                        </a:rPr>
                        <a:t>PRODUCTO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precio_unitario_base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DECIMAL(10,2)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Precio unitario base de catalogo en Soles (S/).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6551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E293B"/>
                          </a:solidFill>
                          <a:latin typeface="Calibri"/>
                        </a:rPr>
                        <a:t>PRODUCTO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VARCHAR(20)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Estado de disponibilidad en catalogo ('DISPONIBLE', 'AGOTADO').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36551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E293B"/>
                          </a:solidFill>
                          <a:latin typeface="Calibri"/>
                        </a:rPr>
                        <a:t>PRODUCTO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CATEGORIA_id_categoria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FK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Referencia obligatoria hacia CATEGORIA(id_categoria).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6551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E293B"/>
                          </a:solidFill>
                          <a:latin typeface="Calibri"/>
                        </a:rPr>
                        <a:t>PEDIDO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id_pedido / fecha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INT / DATETIME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PK / -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Identificador unico y fecha/hora de registro del pedido.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36551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E293B"/>
                          </a:solidFill>
                          <a:latin typeface="Calibri"/>
                        </a:rPr>
                        <a:t>PEDIDO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metodo_pago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VARCHAR(30)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Medio de pago ('Tarjeta de Credito', 'Yape / Plin', 'PagoEfectivo').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6551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E293B"/>
                          </a:solidFill>
                          <a:latin typeface="Calibri"/>
                        </a:rPr>
                        <a:t>PEDIDO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igv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DECIMAL(10,2)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Impuesto General a las Ventas (18% en Peru).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36551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E293B"/>
                          </a:solidFill>
                          <a:latin typeface="Calibri"/>
                        </a:rPr>
                        <a:t>PEDIDO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estado_envio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VARCHAR(20)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Estado de seguimiento del envio ('EN PROCESO', 'EN CAMINO', 'ENTREGADO').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6551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E293B"/>
                          </a:solidFill>
                          <a:latin typeface="Calibri"/>
                        </a:rPr>
                        <a:t>PEDIDO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CLIENTE_id_cliente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FK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Referencia obligatoria hacia CLIENTE(id_cliente).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36551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E293B"/>
                          </a:solidFill>
                          <a:latin typeface="Calibri"/>
                        </a:rPr>
                        <a:t>DETALLE_VENTA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id_detalle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Identificador unico de la linea de detalle.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6551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E293B"/>
                          </a:solidFill>
                          <a:latin typeface="Calibri"/>
                        </a:rPr>
                        <a:t>DETALLE_VENTA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talla_elegida / cantidad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VARCHAR(10) / INT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Talla seleccionada en la compra y unidades solicitadas (&gt; 0).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36551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E293B"/>
                          </a:solidFill>
                          <a:latin typeface="Calibri"/>
                        </a:rPr>
                        <a:t>DETALLE_VENTA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precio_aplicado / 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DECIMAL(10,2)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Precio unitario aplicado e importe total exclusivo de la linea.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6558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E293B"/>
                          </a:solidFill>
                          <a:latin typeface="Calibri"/>
                        </a:rPr>
                        <a:t>DETALLE_VENTA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PEDIDO_id / PRODUCTO_id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FK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E293B"/>
                          </a:solidFill>
                          <a:latin typeface="Calibri"/>
                        </a:rPr>
                        <a:t>Llaves foraneas hacia PEDIDO(id_pedido) y PRODUCTO(id_producto).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11. DICCIONARIO DE DATOS (PARTE 2: AREA DE ALMACENES Y SUMINISTRO A LOCALES)</a:t>
            </a:r>
          </a:p>
          <a:p>
            <a:r>
              <a:rPr sz="1150">
                <a:solidFill>
                  <a:srgbClr val="CBD5E1"/>
                </a:solidFill>
                <a:latin typeface="Calibri"/>
              </a:rPr>
              <a:t>Especificacion tecnica de ALMACEN, STOCK_ALMACEN, LOCAL y SUMINISTRO_LOCAL con sus claves compuestas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950">
                <a:solidFill>
                  <a:srgbClr val="475569"/>
                </a:solidFill>
                <a:latin typeface="Calibri"/>
              </a:rPr>
              <a:t>IDAT - Disenio de Base de Datos Relacionales | Proyecto Parcial: BD NIKE Inc. (Peru) | Grupo 5: Asmat, Fernandez, Coloma, Rios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024128"/>
          <a:ext cx="1136599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965960"/>
                <a:gridCol w="1417320"/>
                <a:gridCol w="777240"/>
                <a:gridCol w="777240"/>
                <a:gridCol w="4919472"/>
              </a:tblGrid>
              <a:tr h="233978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libri"/>
                        </a:rPr>
                        <a:t>Tabla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libri"/>
                        </a:rPr>
                        <a:t>Columna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libri"/>
                        </a:rPr>
                        <a:t>Tipo y Tamanio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libri"/>
                        </a:rPr>
                        <a:t>Clave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libri"/>
                        </a:rPr>
                        <a:t>Nulo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FFFFFF"/>
                          </a:solidFill>
                          <a:latin typeface="Calibri"/>
                        </a:rPr>
                        <a:t>Descripcion y Regla de Integridad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E293B"/>
                          </a:solidFill>
                          <a:latin typeface="Calibri"/>
                        </a:rPr>
                        <a:t>ALMACEN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id_almacen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Identificador unico del Centro de Distribucion (CD).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E293B"/>
                          </a:solidFill>
                          <a:latin typeface="Calibri"/>
                        </a:rPr>
                        <a:t>ALMACEN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nombre_almacen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VARCHAR(50)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Nombre oficial de la sede ('CD Lima Norte', 'CD Sur Arequipa').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E293B"/>
                          </a:solidFill>
                          <a:latin typeface="Calibri"/>
                        </a:rPr>
                        <a:t>ALMACEN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ubicacion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VARCHAR(100)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Direccion y ciudad donde se ubica el almacen.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E293B"/>
                          </a:solidFill>
                          <a:latin typeface="Calibri"/>
                        </a:rPr>
                        <a:t>STOCK_ALMACEN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talla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VARCHAR(10)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PK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Talla del lote fisico almacenado (Parte 1 de la PK compuesta).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E293B"/>
                          </a:solidFill>
                          <a:latin typeface="Calibri"/>
                        </a:rPr>
                        <a:t>STOCK_ALMACEN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color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VARCHAR(30)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Color del lote fisico almacenado (Parte 2 de la PK compuesta).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E293B"/>
                          </a:solidFill>
                          <a:latin typeface="Calibri"/>
                        </a:rPr>
                        <a:t>STOCK_ALMACEN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stock_actual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Cantidad fisica disponible actualmente en ese almacen.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E293B"/>
                          </a:solidFill>
                          <a:latin typeface="Calibri"/>
                        </a:rPr>
                        <a:t>STOCK_ALMACEN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stock_minimo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Umbral minimo de seguridad para alerta de reabastecimiento.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E293B"/>
                          </a:solidFill>
                          <a:latin typeface="Calibri"/>
                        </a:rPr>
                        <a:t>STOCK_ALMACEN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ALMACEN_id_almacen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PFK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Parte 3 de la PK compuesta y FK hacia ALMACEN(id_almacen).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E293B"/>
                          </a:solidFill>
                          <a:latin typeface="Calibri"/>
                        </a:rPr>
                        <a:t>STOCK_ALMACEN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PRODUCTO_id_producto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PFK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Parte 4 de la PK compuesta y FK hacia PRODUCTO(id_producto).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E293B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id_local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PK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Identificador unico de la tienda fisica (Nike Store).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E293B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nombre_local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VARCHAR(50)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Nombre comercial de la tienda ('Nike Store Jockey Plaza').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E293B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direccion_local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VARCHAR(150)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Direccion fisica completa del local comercial.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E293B"/>
                          </a:solidFill>
                          <a:latin typeface="Calibri"/>
                        </a:rPr>
                        <a:t>SUMINISTRO_LOCAL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fecha_suministro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Fecha del despacho de abastecimiento (Parte 1 de la PK compuesta).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E293B"/>
                          </a:solidFill>
                          <a:latin typeface="Calibri"/>
                        </a:rPr>
                        <a:t>SUMINISTRO_LOCAL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estado_despacho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VARCHAR(20)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SI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Estado logistico del envio a tienda ('ENTREGADO', 'EN RUTA').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33978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E293B"/>
                          </a:solidFill>
                          <a:latin typeface="Calibri"/>
                        </a:rPr>
                        <a:t>SUMINISTRO_LOCAL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LOCAL_id_local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PFK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Parte 2 de la PK compuesta y FK hacia LOCAL(id_local).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3991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E293B"/>
                          </a:solidFill>
                          <a:latin typeface="Calibri"/>
                        </a:rPr>
                        <a:t>SUMINISTRO_LOCAL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ALMACEN_id_almacen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PFK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E293B"/>
                          </a:solidFill>
                          <a:latin typeface="Calibri"/>
                        </a:rPr>
                        <a:t>Parte 3 de la PK compuesta y FK hacia ALMACEN(id_almacen).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11480" y="5120640"/>
            <a:ext cx="11365992" cy="1325880"/>
          </a:xfrm>
          <a:prstGeom prst="rect">
            <a:avLst/>
          </a:prstGeom>
          <a:solidFill>
            <a:srgbClr val="E8F0FE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0F243E"/>
                </a:solidFill>
                <a:latin typeface="Calibri"/>
              </a:rPr>
              <a:t>Ventaja de las Claves Primarias Compuestas (PFK) en el Area Logistica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En STOCK_ALMACEN: </a:t>
            </a:r>
            <a:r>
              <a:rPr sz="1050">
                <a:solidFill>
                  <a:srgbClr val="1E293B"/>
                </a:solidFill>
                <a:latin typeface="Calibri"/>
              </a:rPr>
              <a:t>Permite que el mismo modelo (ej. id_producto = 1001) tenga multiples lotes diferenciados por talla y color dentro de un mismo almacen o en distintos almacenes del pais sin duplicar el producto en el catalogo.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En SUMINISTRO_LOCAL: </a:t>
            </a:r>
            <a:r>
              <a:rPr sz="1050">
                <a:solidFill>
                  <a:srgbClr val="1E293B"/>
                </a:solidFill>
                <a:latin typeface="Calibri"/>
              </a:rPr>
              <a:t>Permite registrar el historial completo de envios desde un Centro de Distribucion hacia una misma tienda fisica en diferentes fechas (fecha_suministro).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12. COMPLICACIONES ENCONTRADAS EN EL PROYECTO Y SOLUCIONES DEL GRUPO</a:t>
            </a:r>
          </a:p>
          <a:p>
            <a:r>
              <a:rPr sz="1150">
                <a:solidFill>
                  <a:srgbClr val="CBD5E1"/>
                </a:solidFill>
                <a:latin typeface="Calibri"/>
              </a:rPr>
              <a:t>Decisiones tecnicas tomadas en equipo para corregir errores de modelado, redundancia y tipos de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950">
                <a:solidFill>
                  <a:srgbClr val="475569"/>
                </a:solidFill>
                <a:latin typeface="Calibri"/>
              </a:rPr>
              <a:t>IDAT - Disenio de Base de Datos Relacionales | Proyecto Parcial: BD NIKE Inc. (Peru) | Grupo 5: Asmat, Fernandez, Coloma, 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5577840" cy="2606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92400E"/>
                </a:solidFill>
                <a:latin typeface="Calibri"/>
              </a:rPr>
              <a:t>1. Evitar que la tabla PRODUCTO se llene de registros repetidos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Complicacion: </a:t>
            </a:r>
            <a:r>
              <a:rPr sz="1050">
                <a:solidFill>
                  <a:srgbClr val="1E293B"/>
                </a:solidFill>
                <a:latin typeface="Calibri"/>
              </a:rPr>
              <a:t>Al inicio pensamos en poner talla, color y stock dentro de PRODUCTO, pero eso obligaba a crear un ID_PRODUCTO distinto por cada par fisico o combinacion, inflando la base de datos.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Como lo resolvimos: </a:t>
            </a:r>
            <a:r>
              <a:rPr sz="1050">
                <a:solidFill>
                  <a:srgbClr val="1E293B"/>
                </a:solidFill>
                <a:latin typeface="Calibri"/>
              </a:rPr>
              <a:t>Dejamos en PRODUCTO solo los datos del modelo de catalogo, y trasladamos talla VARCHAR(10), color VARCHAR(30), stock_actual y stock_minimo a la tabla asociativa STOCK_ALMACEN con clave compuesta.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024128"/>
            <a:ext cx="5605272" cy="2606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92400E"/>
                </a:solidFill>
                <a:latin typeface="Calibri"/>
              </a:rPr>
              <a:t>2. Ubicacion correcta del campo Total y precision decimal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Complicacion: </a:t>
            </a:r>
            <a:r>
              <a:rPr sz="1050">
                <a:solidFill>
                  <a:srgbClr val="1E293B"/>
                </a:solidFill>
                <a:latin typeface="Calibri"/>
              </a:rPr>
              <a:t>Teniamos la duda de si colocar el atributo total tanto en PEDIDO como en DETALLE_VENTA, e inicialmente habiamos usado enteros sin decimales para los precios.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• Como lo resolvimos: </a:t>
            </a:r>
            <a:r>
              <a:rPr sz="1050">
                <a:solidFill>
                  <a:srgbClr val="1E293B"/>
                </a:solidFill>
                <a:latin typeface="Calibri"/>
              </a:rPr>
              <a:t>Para evitar redundancia y posibles descuadres al actualizar lineas, mantuvimos total exclusivamente en DETALLE_VENTA, dejamos en PEDIDO solo el igv (18%), y cambiamos todos los montos a DECIMAL(10, 2).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767328"/>
            <a:ext cx="3657600" cy="2651760"/>
          </a:xfrm>
          <a:prstGeom prst="rect">
            <a:avLst/>
          </a:prstGeom>
          <a:solidFill>
            <a:srgbClr val="E8F0FE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F243E"/>
                </a:solidFill>
                <a:latin typeface="Calibri"/>
              </a:rPr>
              <a:t>3. Segundo telefono sin romper la 1FN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Complicacion: </a:t>
            </a:r>
            <a:r>
              <a:rPr sz="1000">
                <a:solidFill>
                  <a:srgbClr val="1E293B"/>
                </a:solidFill>
                <a:latin typeface="Calibri"/>
              </a:rPr>
              <a:t>En los casos reales de reparto en Peru, varios clientes dan 2 numeros de celular. Poner ambos en una sola celda violaba la 1FN.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Solucion: </a:t>
            </a:r>
            <a:r>
              <a:rPr sz="1000">
                <a:solidFill>
                  <a:srgbClr val="1E293B"/>
                </a:solidFill>
                <a:latin typeface="Calibri"/>
              </a:rPr>
              <a:t>Creamos telefono VARCHAR(15) NOT NULL (titular) y telefono_secundario VARCHAR(15) NULL (respaldo opcional), usando 15 por la norma E.164 sin desperdiciar bytes para los 9 digitos de Peru.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3767328"/>
            <a:ext cx="3657600" cy="2651760"/>
          </a:xfrm>
          <a:prstGeom prst="rect">
            <a:avLst/>
          </a:prstGeom>
          <a:solidFill>
            <a:srgbClr val="E8F0FE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F243E"/>
                </a:solidFill>
                <a:latin typeface="Calibri"/>
              </a:rPr>
              <a:t>4. Representacion de DETALLE_VENTA (MER vs Logico)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Complicacion: </a:t>
            </a:r>
            <a:r>
              <a:rPr sz="1000">
                <a:solidFill>
                  <a:srgbClr val="1E293B"/>
                </a:solidFill>
                <a:latin typeface="Calibri"/>
              </a:rPr>
              <a:t>En el MER de Draw.io (Chen), dibujar DETALLE_VENTA como entidad rectangular chocaba con la relacion entre PEDIDO y PRODUCTO.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Solucion: </a:t>
            </a:r>
            <a:r>
              <a:rPr sz="1000">
                <a:solidFill>
                  <a:srgbClr val="1E293B"/>
                </a:solidFill>
                <a:latin typeface="Calibri"/>
              </a:rPr>
              <a:t>En el MER Conceptual lo modelamos como el rombo directo CONTIENE con sus atributos, y al pasar a Data Modeler se transformo en la entidad asociativa DETALLE_VENTA.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3767328"/>
            <a:ext cx="3685032" cy="2651760"/>
          </a:xfrm>
          <a:prstGeom prst="rect">
            <a:avLst/>
          </a:prstGeom>
          <a:solidFill>
            <a:srgbClr val="E8F0FE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0F243E"/>
                </a:solidFill>
                <a:latin typeface="Calibri"/>
              </a:rPr>
              <a:t>5. Conversion de tipos de Oracle a SQL Server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Complicacion: </a:t>
            </a:r>
            <a:r>
              <a:rPr sz="1000">
                <a:solidFill>
                  <a:srgbClr val="1E293B"/>
                </a:solidFill>
                <a:latin typeface="Calibri"/>
              </a:rPr>
              <a:t>Oracle Data Modeler generaba por defecto tipos VARCHAR2 y NUMBER con longitudes excesivas (255, 200) que daban advertencias en SSMS.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Calibri"/>
              </a:rPr>
              <a:t>• Solucion: </a:t>
            </a:r>
            <a:r>
              <a:rPr sz="1000">
                <a:solidFill>
                  <a:srgbClr val="1E293B"/>
                </a:solidFill>
                <a:latin typeface="Calibri"/>
              </a:rPr>
              <a:t>Adaptamos el DDL a sintaxis nativa de SQL Server (VARCHAR, DECIMAL, DATETIME) y ajustamos todas las longitudes a la medida justa y necesaria.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28016"/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13. CONCLUSIONES DEL PROYECTO PARCIAL - GRUPO 5</a:t>
            </a:r>
          </a:p>
          <a:p>
            <a:r>
              <a:rPr sz="1150">
                <a:solidFill>
                  <a:srgbClr val="CBD5E1"/>
                </a:solidFill>
                <a:latin typeface="Calibri"/>
              </a:rPr>
              <a:t>Sintesis de los logros alcanzados en los niveles Conceptual, Normalizacion, Logico, Relacional y Fisico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950">
                <a:solidFill>
                  <a:srgbClr val="475569"/>
                </a:solidFill>
                <a:latin typeface="Calibri"/>
              </a:rPr>
              <a:t>IDAT - Disenio de Base de Datos Relacionales | Proyecto Parcial: BD NIKE Inc. (Peru) | Grupo 5: Asmat, Fernandez, Coloma, 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5577840" cy="2560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350" b="1">
                <a:solidFill>
                  <a:srgbClr val="166534"/>
                </a:solidFill>
                <a:latin typeface="Calibri"/>
              </a:rPr>
              <a:t>1. Coherencia Total entre los 4 Niveles de Modelado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E293B"/>
                </a:solidFill>
                <a:latin typeface="Calibri"/>
              </a:rPr>
              <a:t>El disenio mantiene trazabilidad exacta desde el Diagrama MER en Draw.io, pasando por las formas normales (0FN -&gt; 1FN -&gt; 2FN -&gt; 3FN) en Excel y los modelos Logico/Relacional en Oracle Data Modeler, hasta las 9 tablas fisicas implementadas en SQL Server Management Studio.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051560"/>
            <a:ext cx="5605272" cy="2560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350" b="1">
                <a:solidFill>
                  <a:srgbClr val="166534"/>
                </a:solidFill>
                <a:latin typeface="Calibri"/>
              </a:rPr>
              <a:t>2. Eliminacion de Redundancia y Escalabilidad Logistica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E293B"/>
                </a:solidFill>
                <a:latin typeface="Calibri"/>
              </a:rPr>
              <a:t>La separacion de CATEGORIA (en 3FN) y el manejo de existencias por lotes en STOCK_ALMACEN (mediante clave primaria compuesta de almacen, producto, talla y color) garantizan que la base de datos soporte miles de pedidos y despachos nacionales sin duplicar registros de catalogo.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794760"/>
            <a:ext cx="5577840" cy="2560320"/>
          </a:xfrm>
          <a:prstGeom prst="rect">
            <a:avLst/>
          </a:prstGeom>
          <a:solidFill>
            <a:srgbClr val="E8F0FE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350" b="1">
                <a:solidFill>
                  <a:srgbClr val="0F243E"/>
                </a:solidFill>
                <a:latin typeface="Calibri"/>
              </a:rPr>
              <a:t>3. Optimizacion del Almacenamiento (VARCHAR Justos)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E293B"/>
                </a:solidFill>
                <a:latin typeface="Calibri"/>
              </a:rPr>
              <a:t>Se eliminaron los tamanios sobredimensionados asignando medidas justas y unificadas a cada columna de texto, destacando el uso de VARCHAR(15) para telefono obligatorio y telefono_secundario opcional (9 bytes para celulares peruanos y soporte hasta 15 digitos internacionales E.164).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3794760"/>
            <a:ext cx="5605272" cy="2560320"/>
          </a:xfrm>
          <a:prstGeom prst="rect">
            <a:avLst/>
          </a:prstGeom>
          <a:solidFill>
            <a:srgbClr val="E8F0FE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09728"/>
          <a:lstStyle/>
          <a:p>
            <a:pPr algn="ctr">
              <a:spcAft>
                <a:spcPts val="600"/>
              </a:spcAft>
            </a:pPr>
            <a:r>
              <a:rPr sz="1350" b="1">
                <a:solidFill>
                  <a:srgbClr val="0F243E"/>
                </a:solidFill>
                <a:latin typeface="Calibri"/>
              </a:rPr>
              <a:t>4. Integridad Referencial y Precision Financiera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E293B"/>
                </a:solidFill>
                <a:latin typeface="Calibri"/>
              </a:rPr>
              <a:t>Las 8 restricciones FOREIGN KEY aseguran que no existan pedidos sin cliente, detalles sin producto ni suministros sin almacen o local valido, mientras que el uso de DECIMAL(10, 2) en precios, IGV (18%) y total por linea asegura exactitud contable en todas las operaciones.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Proyecto Parcial BD NIKE Inc - Grupo 5</dc:title>
  <dc:subject>Disenio de Base de Datos Relacionales - IDAT</dc:subject>
  <dc:creator>Luis Coloma</dc:creator>
  <cp:keywords/>
  <dc:description/>
  <cp:lastModifiedBy>Luis Coloma</cp:lastModifiedBy>
  <cp:revision>1</cp:revision>
  <dcterms:created xsi:type="dcterms:W3CDTF">2026-10-06T18:15:22Z</dcterms:created>
  <dcterms:modified xsi:type="dcterms:W3CDTF">2026-10-06T18:15:22Z</dcterms:modified>
  <cp:category/>
</cp:coreProperties>
</file>